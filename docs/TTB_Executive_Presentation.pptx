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Qwen v2 LoRA (on-prem)</c:v>
                </c:pt>
              </c:strCache>
            </c:strRef>
          </c:tx>
          <c:spPr>
            <a:solidFill>
              <a:srgbClr val="02809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293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Brand</c:v>
                  </c:pt>
                  <c:pt idx="1">
                    <c:v>Class &amp; type</c:v>
                  </c:pt>
                  <c:pt idx="2">
                    <c:v>Bottler</c:v>
                  </c:pt>
                  <c:pt idx="3">
                    <c:v>Country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82</c:v>
                </c:pt>
                <c:pt idx="1">
                  <c:v>91.5</c:v>
                </c:pt>
                <c:pt idx="2">
                  <c:v>52</c:v>
                </c:pt>
                <c:pt idx="3">
                  <c:v>95.8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Haiku (cloud, zero-shot)</c:v>
                </c:pt>
              </c:strCache>
            </c:strRef>
          </c:tx>
          <c:spPr>
            <a:solidFill>
              <a:srgbClr val="F9616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293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Brand</c:v>
                  </c:pt>
                  <c:pt idx="1">
                    <c:v>Class &amp; type</c:v>
                  </c:pt>
                  <c:pt idx="2">
                    <c:v>Bottler</c:v>
                  </c:pt>
                  <c:pt idx="3">
                    <c:v>Country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67</c:v>
                </c:pt>
                <c:pt idx="1">
                  <c:v>19.5</c:v>
                </c:pt>
                <c:pt idx="2">
                  <c:v>1</c:v>
                </c:pt>
                <c:pt idx="3">
                  <c:v>87.5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293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93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image" Target="../media/image-4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120640"/>
            <a:ext cx="12161520" cy="45720"/>
          </a:xfrm>
          <a:prstGeom prst="rect">
            <a:avLst/>
          </a:prstGeom>
          <a:solidFill>
            <a:srgbClr val="CADCF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19202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ALCOHOL LABEL VERIFICATION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2377440"/>
            <a:ext cx="10881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TTB Label Verification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640080" y="36118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CADC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Executive overview of the take-home implementation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544068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78.0%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 v2 LoRA accuracy — 2× Haiku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0" y="544068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 days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457200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build, 91 commits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503920" y="544068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 / 7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850392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Mandatory checks implemented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" y="420624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Vikram Siwach · May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41148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68580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Manual label review at federal scale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TTB Label Verification  ·  Take-Home Implementation Overview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02920" y="1691640"/>
            <a:ext cx="6035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TTB reviews ~150,000 alcohol label applications per year with 47 agents. A simple review takes 5–10 minutes — half the agent's day is mechanical matching: brand, ABV, net contents, government warning. Past automation attempts failed at &gt;5s/label latency; agents abandoned them.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02920" y="342900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Constraints from stakeholder interviews: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02920" y="3794760"/>
            <a:ext cx="6035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≤ 5 seconds per label — non-negotiable, was the deal-breaker for the prior vendor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Approachable for agents 50+ (half the workforce) and a 73-year-old benchmark user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Federal firewall blocks most outbound traffic to public ML endpoints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upload of 200–300 labels (peak-season importer flows)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040880" y="1691640"/>
            <a:ext cx="457200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040880" y="1691640"/>
            <a:ext cx="73152" cy="1325880"/>
          </a:xfrm>
          <a:prstGeom prst="rect">
            <a:avLst/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9480" y="1920240"/>
            <a:ext cx="502920" cy="50292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7955280" y="182880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150K</a:t>
            </a:r>
            <a:endParaRPr lang="en-US" sz="3600" dirty="0"/>
          </a:p>
        </p:txBody>
      </p:sp>
      <p:sp>
        <p:nvSpPr>
          <p:cNvPr id="14" name="Text 11"/>
          <p:cNvSpPr/>
          <p:nvPr/>
        </p:nvSpPr>
        <p:spPr>
          <a:xfrm>
            <a:off x="7955280" y="24688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applications per year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7040880" y="3200400"/>
            <a:ext cx="457200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6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7040880" y="3200400"/>
            <a:ext cx="73152" cy="1325880"/>
          </a:xfrm>
          <a:prstGeom prst="rect">
            <a:avLst/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3429000"/>
            <a:ext cx="502920" cy="502920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7955280" y="333756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47</a:t>
            </a:r>
            <a:endParaRPr lang="en-US" sz="3600" dirty="0"/>
          </a:p>
        </p:txBody>
      </p:sp>
      <p:sp>
        <p:nvSpPr>
          <p:cNvPr id="19" name="Text 15"/>
          <p:cNvSpPr/>
          <p:nvPr/>
        </p:nvSpPr>
        <p:spPr>
          <a:xfrm>
            <a:off x="7955280" y="39776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reviewing them today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7040880" y="4709160"/>
            <a:ext cx="457200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6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7040880" y="4709160"/>
            <a:ext cx="73152" cy="1325880"/>
          </a:xfrm>
          <a:prstGeom prst="rect">
            <a:avLst/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9480" y="4937760"/>
            <a:ext cx="502920" cy="502920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7955280" y="484632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5–10 min</a:t>
            </a:r>
            <a:endParaRPr lang="en-US" sz="3600" dirty="0"/>
          </a:p>
        </p:txBody>
      </p:sp>
      <p:sp>
        <p:nvSpPr>
          <p:cNvPr id="24" name="Text 19"/>
          <p:cNvSpPr/>
          <p:nvPr/>
        </p:nvSpPr>
        <p:spPr>
          <a:xfrm>
            <a:off x="7955280" y="54864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simple review, current state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41148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THE APPROACH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68580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reads. Rules decide. Humans own the call.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TTB Label Verification  ·  Take-Home Implementation Overview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11480" y="1737360"/>
            <a:ext cx="3657600" cy="4297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11480" y="1737360"/>
            <a:ext cx="3657600" cy="109728"/>
          </a:xfrm>
          <a:prstGeom prst="rect">
            <a:avLst/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48840"/>
            <a:ext cx="640080" cy="64008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2788920" y="205740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600" b="1" dirty="0">
                <a:solidFill>
                  <a:srgbClr val="CADC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5600" dirty="0"/>
          </a:p>
        </p:txBody>
      </p:sp>
      <p:sp>
        <p:nvSpPr>
          <p:cNvPr id="11" name="Text 8"/>
          <p:cNvSpPr/>
          <p:nvPr/>
        </p:nvSpPr>
        <p:spPr>
          <a:xfrm>
            <a:off x="777240" y="30632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Extraction</a:t>
            </a:r>
            <a:endParaRPr lang="en-US" sz="2400" dirty="0"/>
          </a:p>
        </p:txBody>
      </p:sp>
      <p:sp>
        <p:nvSpPr>
          <p:cNvPr id="12" name="Text 9"/>
          <p:cNvSpPr/>
          <p:nvPr/>
        </p:nvSpPr>
        <p:spPr>
          <a:xfrm>
            <a:off x="777240" y="35204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Vision-language model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777240" y="3931920"/>
            <a:ext cx="2926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Open-weights Qwen2.5-VL-7B (Apache 2.0), fine-tuned on TTB-stratified data. Reads what's printed; reports observations + per-field confidence. Never decides compliance.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251960" y="1737360"/>
            <a:ext cx="3657600" cy="4297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6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4251960" y="1737360"/>
            <a:ext cx="3657600" cy="109728"/>
          </a:xfrm>
          <a:prstGeom prst="rect">
            <a:avLst/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2148840"/>
            <a:ext cx="640080" cy="64008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6629400" y="205740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600" b="1" dirty="0">
                <a:solidFill>
                  <a:srgbClr val="CADC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5600" dirty="0"/>
          </a:p>
        </p:txBody>
      </p:sp>
      <p:sp>
        <p:nvSpPr>
          <p:cNvPr id="18" name="Text 14"/>
          <p:cNvSpPr/>
          <p:nvPr/>
        </p:nvSpPr>
        <p:spPr>
          <a:xfrm>
            <a:off x="4617720" y="30632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Verdict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4617720" y="35204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27 CFR engine</a:t>
            </a:r>
            <a:endParaRPr lang="en-US" sz="1100" dirty="0"/>
          </a:p>
        </p:txBody>
      </p:sp>
      <p:sp>
        <p:nvSpPr>
          <p:cNvPr id="20" name="Text 16"/>
          <p:cNvSpPr/>
          <p:nvPr/>
        </p:nvSpPr>
        <p:spPr>
          <a:xfrm>
            <a:off x="4617720" y="3931920"/>
            <a:ext cx="2926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Hand-coded Python rules engine cites the regulation behind every match / likely / flag decision. 118 unit tests. Auditable, reproducible, model-independent.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8092440" y="1737360"/>
            <a:ext cx="3657600" cy="4297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6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8092440" y="1737360"/>
            <a:ext cx="3657600" cy="109728"/>
          </a:xfrm>
          <a:prstGeom prst="rect">
            <a:avLst/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8200" y="2148840"/>
            <a:ext cx="640080" cy="640080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10469880" y="205740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600" b="1" dirty="0">
                <a:solidFill>
                  <a:srgbClr val="CADC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5600" dirty="0"/>
          </a:p>
        </p:txBody>
      </p:sp>
      <p:sp>
        <p:nvSpPr>
          <p:cNvPr id="25" name="Text 20"/>
          <p:cNvSpPr/>
          <p:nvPr/>
        </p:nvSpPr>
        <p:spPr>
          <a:xfrm>
            <a:off x="8458200" y="30632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Decision</a:t>
            </a:r>
            <a:endParaRPr lang="en-US" sz="2400" dirty="0"/>
          </a:p>
        </p:txBody>
      </p:sp>
      <p:sp>
        <p:nvSpPr>
          <p:cNvPr id="26" name="Text 21"/>
          <p:cNvSpPr/>
          <p:nvPr/>
        </p:nvSpPr>
        <p:spPr>
          <a:xfrm>
            <a:off x="8458200" y="35204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</a:t>
            </a:r>
            <a:endParaRPr lang="en-US" sz="1100" dirty="0"/>
          </a:p>
        </p:txBody>
      </p:sp>
      <p:sp>
        <p:nvSpPr>
          <p:cNvPr id="27" name="Text 22"/>
          <p:cNvSpPr/>
          <p:nvPr/>
        </p:nvSpPr>
        <p:spPr>
          <a:xfrm>
            <a:off x="8458200" y="3931920"/>
            <a:ext cx="2926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confirms or overrides every result. Three-state output (match / likely / flag) gives them confidence signal without forcing a hard call. Engine routes conservatively.</a:t>
            </a:r>
            <a:endParaRPr lang="en-US" sz="1200" dirty="0"/>
          </a:p>
        </p:txBody>
      </p:sp>
      <p:sp>
        <p:nvSpPr>
          <p:cNvPr id="28" name="Text 23"/>
          <p:cNvSpPr/>
          <p:nvPr/>
        </p:nvSpPr>
        <p:spPr>
          <a:xfrm>
            <a:off x="502920" y="617220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rules engine is the durable value — swap the model anytime, the legal logic doesn't change.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41148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ARCHITECTURE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68580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Browser → backend → swappable extractor → rules engine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TTB Label Verification  ·  Take-Home Implementation Overview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28600" y="2011680"/>
            <a:ext cx="201168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6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194560"/>
            <a:ext cx="548640" cy="5486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228600" y="27889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Browser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320040" y="31546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+ Vite</a:t>
            </a:r>
            <a:endParaRPr lang="en-US" sz="10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651760"/>
            <a:ext cx="320040" cy="32004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2651760" y="2011680"/>
            <a:ext cx="201168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6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3280" y="2194560"/>
            <a:ext cx="548640" cy="54864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2651760" y="27889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Backend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2743200" y="31546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+ Pydantic</a:t>
            </a:r>
            <a:endParaRPr lang="en-US" sz="10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9160" y="2651760"/>
            <a:ext cx="320040" cy="32004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5074920" y="2011680"/>
            <a:ext cx="201168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6000"/>
              </a:srgbClr>
            </a:outerShdw>
          </a:effectLst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06440" y="2194560"/>
            <a:ext cx="548640" cy="54864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5074920" y="27889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Extractor</a:t>
            </a:r>
            <a:endParaRPr lang="en-US" sz="1600" dirty="0"/>
          </a:p>
        </p:txBody>
      </p:sp>
      <p:sp>
        <p:nvSpPr>
          <p:cNvPr id="20" name="Text 13"/>
          <p:cNvSpPr/>
          <p:nvPr/>
        </p:nvSpPr>
        <p:spPr>
          <a:xfrm>
            <a:off x="5166360" y="31546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swappable adapters</a:t>
            </a:r>
            <a:endParaRPr lang="en-US" sz="1000" dirty="0"/>
          </a:p>
        </p:txBody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32320" y="2651760"/>
            <a:ext cx="320040" cy="32004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7498080" y="2011680"/>
            <a:ext cx="201168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6000"/>
              </a:srgbClr>
            </a:outerShdw>
          </a:effectLst>
        </p:spPr>
      </p:sp>
      <p:pic>
        <p:nvPicPr>
          <p:cNvPr id="2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29600" y="2194560"/>
            <a:ext cx="548640" cy="548640"/>
          </a:xfrm>
          <a:prstGeom prst="rect">
            <a:avLst/>
          </a:prstGeom>
        </p:spPr>
      </p:pic>
      <p:sp>
        <p:nvSpPr>
          <p:cNvPr id="24" name="Text 15"/>
          <p:cNvSpPr/>
          <p:nvPr/>
        </p:nvSpPr>
        <p:spPr>
          <a:xfrm>
            <a:off x="7498080" y="27889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Rules Engine</a:t>
            </a:r>
            <a:endParaRPr lang="en-US" sz="1600" dirty="0"/>
          </a:p>
        </p:txBody>
      </p:sp>
      <p:sp>
        <p:nvSpPr>
          <p:cNvPr id="25" name="Text 16"/>
          <p:cNvSpPr/>
          <p:nvPr/>
        </p:nvSpPr>
        <p:spPr>
          <a:xfrm>
            <a:off x="7589520" y="31546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Pure Python · 27 CFR</a:t>
            </a:r>
            <a:endParaRPr lang="en-US" sz="1000" dirty="0"/>
          </a:p>
        </p:txBody>
      </p:sp>
      <p:pic>
        <p:nvPicPr>
          <p:cNvPr id="26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55480" y="2651760"/>
            <a:ext cx="320040" cy="320040"/>
          </a:xfrm>
          <a:prstGeom prst="rect">
            <a:avLst/>
          </a:prstGeom>
        </p:spPr>
      </p:pic>
      <p:sp>
        <p:nvSpPr>
          <p:cNvPr id="27" name="Shape 17"/>
          <p:cNvSpPr/>
          <p:nvPr/>
        </p:nvSpPr>
        <p:spPr>
          <a:xfrm>
            <a:off x="9921240" y="2011680"/>
            <a:ext cx="201168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6000"/>
              </a:srgbClr>
            </a:outerShdw>
          </a:effectLst>
        </p:spPr>
      </p:sp>
      <p:pic>
        <p:nvPicPr>
          <p:cNvPr id="2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52760" y="2194560"/>
            <a:ext cx="548640" cy="548640"/>
          </a:xfrm>
          <a:prstGeom prst="rect">
            <a:avLst/>
          </a:prstGeom>
        </p:spPr>
      </p:pic>
      <p:sp>
        <p:nvSpPr>
          <p:cNvPr id="29" name="Text 18"/>
          <p:cNvSpPr/>
          <p:nvPr/>
        </p:nvSpPr>
        <p:spPr>
          <a:xfrm>
            <a:off x="9921240" y="27889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Verdict</a:t>
            </a:r>
            <a:endParaRPr lang="en-US" sz="1600" dirty="0"/>
          </a:p>
        </p:txBody>
      </p:sp>
      <p:sp>
        <p:nvSpPr>
          <p:cNvPr id="30" name="Text 19"/>
          <p:cNvSpPr/>
          <p:nvPr/>
        </p:nvSpPr>
        <p:spPr>
          <a:xfrm>
            <a:off x="10012680" y="31546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/ likely / flag</a:t>
            </a:r>
            <a:endParaRPr lang="en-US" sz="1000" dirty="0"/>
          </a:p>
        </p:txBody>
      </p:sp>
      <p:sp>
        <p:nvSpPr>
          <p:cNvPr id="31" name="Text 20"/>
          <p:cNvSpPr/>
          <p:nvPr/>
        </p:nvSpPr>
        <p:spPr>
          <a:xfrm>
            <a:off x="502920" y="402336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Inference modes — pick at runtime via INFERENCE_MODE</a:t>
            </a:r>
            <a:endParaRPr lang="en-US" sz="1200" dirty="0"/>
          </a:p>
        </p:txBody>
      </p:sp>
      <p:sp>
        <p:nvSpPr>
          <p:cNvPr id="32" name="Shape 21"/>
          <p:cNvSpPr/>
          <p:nvPr/>
        </p:nvSpPr>
        <p:spPr>
          <a:xfrm>
            <a:off x="502920" y="4434840"/>
            <a:ext cx="3657600" cy="640080"/>
          </a:xfrm>
          <a:prstGeom prst="rect">
            <a:avLst/>
          </a:prstGeom>
          <a:solidFill>
            <a:srgbClr val="CADCFC">
              <a:alpha val="40000"/>
            </a:srgbClr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3" name="Shape 22"/>
          <p:cNvSpPr/>
          <p:nvPr/>
        </p:nvSpPr>
        <p:spPr>
          <a:xfrm>
            <a:off x="502920" y="4434840"/>
            <a:ext cx="73152" cy="640080"/>
          </a:xfrm>
          <a:prstGeom prst="rect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23"/>
          <p:cNvSpPr/>
          <p:nvPr/>
        </p:nvSpPr>
        <p:spPr>
          <a:xfrm>
            <a:off x="685800" y="4489704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mock</a:t>
            </a:r>
            <a:endParaRPr lang="en-US" sz="1300" dirty="0"/>
          </a:p>
        </p:txBody>
      </p:sp>
      <p:sp>
        <p:nvSpPr>
          <p:cNvPr id="35" name="Text 24"/>
          <p:cNvSpPr/>
          <p:nvPr/>
        </p:nvSpPr>
        <p:spPr>
          <a:xfrm>
            <a:off x="1783080" y="4489704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fixtures · CI</a:t>
            </a:r>
            <a:endParaRPr lang="en-US" sz="1100" dirty="0"/>
          </a:p>
        </p:txBody>
      </p:sp>
      <p:sp>
        <p:nvSpPr>
          <p:cNvPr id="36" name="Shape 25"/>
          <p:cNvSpPr/>
          <p:nvPr/>
        </p:nvSpPr>
        <p:spPr>
          <a:xfrm>
            <a:off x="4343400" y="4434840"/>
            <a:ext cx="3657600" cy="640080"/>
          </a:xfrm>
          <a:prstGeom prst="rect">
            <a:avLst/>
          </a:prstGeom>
          <a:solidFill>
            <a:srgbClr val="CADCFC">
              <a:alpha val="40000"/>
            </a:srgbClr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7" name="Shape 26"/>
          <p:cNvSpPr/>
          <p:nvPr/>
        </p:nvSpPr>
        <p:spPr>
          <a:xfrm>
            <a:off x="4343400" y="4434840"/>
            <a:ext cx="73152" cy="640080"/>
          </a:xfrm>
          <a:prstGeom prst="rect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Text 27"/>
          <p:cNvSpPr/>
          <p:nvPr/>
        </p:nvSpPr>
        <p:spPr>
          <a:xfrm>
            <a:off x="4526280" y="4489704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cloud</a:t>
            </a:r>
            <a:endParaRPr lang="en-US" sz="1300" dirty="0"/>
          </a:p>
        </p:txBody>
      </p:sp>
      <p:sp>
        <p:nvSpPr>
          <p:cNvPr id="39" name="Text 28"/>
          <p:cNvSpPr/>
          <p:nvPr/>
        </p:nvSpPr>
        <p:spPr>
          <a:xfrm>
            <a:off x="5623560" y="4489704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 / OpenAI / Google APIs</a:t>
            </a:r>
            <a:endParaRPr lang="en-US" sz="1100" dirty="0"/>
          </a:p>
        </p:txBody>
      </p:sp>
      <p:sp>
        <p:nvSpPr>
          <p:cNvPr id="40" name="Shape 29"/>
          <p:cNvSpPr/>
          <p:nvPr/>
        </p:nvSpPr>
        <p:spPr>
          <a:xfrm>
            <a:off x="8183880" y="4434840"/>
            <a:ext cx="3657600" cy="640080"/>
          </a:xfrm>
          <a:prstGeom prst="rect">
            <a:avLst/>
          </a:prstGeom>
          <a:solidFill>
            <a:srgbClr val="CADCFC">
              <a:alpha val="40000"/>
            </a:srgbClr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1" name="Shape 30"/>
          <p:cNvSpPr/>
          <p:nvPr/>
        </p:nvSpPr>
        <p:spPr>
          <a:xfrm>
            <a:off x="8183880" y="4434840"/>
            <a:ext cx="73152" cy="640080"/>
          </a:xfrm>
          <a:prstGeom prst="rect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2" name="Text 31"/>
          <p:cNvSpPr/>
          <p:nvPr/>
        </p:nvSpPr>
        <p:spPr>
          <a:xfrm>
            <a:off x="8366760" y="4489704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claude-code</a:t>
            </a:r>
            <a:endParaRPr lang="en-US" sz="1300" dirty="0"/>
          </a:p>
        </p:txBody>
      </p:sp>
      <p:sp>
        <p:nvSpPr>
          <p:cNvPr id="43" name="Text 32"/>
          <p:cNvSpPr/>
          <p:nvPr/>
        </p:nvSpPr>
        <p:spPr>
          <a:xfrm>
            <a:off x="9464040" y="4489704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 via Claude Code CLI</a:t>
            </a:r>
            <a:endParaRPr lang="en-US" sz="1100" dirty="0"/>
          </a:p>
        </p:txBody>
      </p:sp>
      <p:sp>
        <p:nvSpPr>
          <p:cNvPr id="44" name="Shape 33"/>
          <p:cNvSpPr/>
          <p:nvPr/>
        </p:nvSpPr>
        <p:spPr>
          <a:xfrm>
            <a:off x="502920" y="5212080"/>
            <a:ext cx="3657600" cy="640080"/>
          </a:xfrm>
          <a:prstGeom prst="rect">
            <a:avLst/>
          </a:prstGeom>
          <a:solidFill>
            <a:srgbClr val="CADCFC">
              <a:alpha val="40000"/>
            </a:srgbClr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5" name="Shape 34"/>
          <p:cNvSpPr/>
          <p:nvPr/>
        </p:nvSpPr>
        <p:spPr>
          <a:xfrm>
            <a:off x="502920" y="5212080"/>
            <a:ext cx="73152" cy="640080"/>
          </a:xfrm>
          <a:prstGeom prst="rect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6" name="Text 35"/>
          <p:cNvSpPr/>
          <p:nvPr/>
        </p:nvSpPr>
        <p:spPr>
          <a:xfrm>
            <a:off x="685800" y="5266944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onprem</a:t>
            </a:r>
            <a:endParaRPr lang="en-US" sz="1300" dirty="0"/>
          </a:p>
        </p:txBody>
      </p:sp>
      <p:sp>
        <p:nvSpPr>
          <p:cNvPr id="47" name="Text 36"/>
          <p:cNvSpPr/>
          <p:nvPr/>
        </p:nvSpPr>
        <p:spPr>
          <a:xfrm>
            <a:off x="1783080" y="5266944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Tesseract + Phi-3.5-vision (Ollama)</a:t>
            </a:r>
            <a:endParaRPr lang="en-US" sz="1100" dirty="0"/>
          </a:p>
        </p:txBody>
      </p:sp>
      <p:sp>
        <p:nvSpPr>
          <p:cNvPr id="48" name="Shape 37"/>
          <p:cNvSpPr/>
          <p:nvPr/>
        </p:nvSpPr>
        <p:spPr>
          <a:xfrm>
            <a:off x="4343400" y="5212080"/>
            <a:ext cx="3657600" cy="640080"/>
          </a:xfrm>
          <a:prstGeom prst="rect">
            <a:avLst/>
          </a:prstGeom>
          <a:solidFill>
            <a:srgbClr val="CADCFC">
              <a:alpha val="40000"/>
            </a:srgbClr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9" name="Shape 38"/>
          <p:cNvSpPr/>
          <p:nvPr/>
        </p:nvSpPr>
        <p:spPr>
          <a:xfrm>
            <a:off x="4343400" y="5212080"/>
            <a:ext cx="73152" cy="640080"/>
          </a:xfrm>
          <a:prstGeom prst="rect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0" name="Text 39"/>
          <p:cNvSpPr/>
          <p:nvPr/>
        </p:nvSpPr>
        <p:spPr>
          <a:xfrm>
            <a:off x="4526280" y="5266944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sft</a:t>
            </a:r>
            <a:endParaRPr lang="en-US" sz="1300" dirty="0"/>
          </a:p>
        </p:txBody>
      </p:sp>
      <p:sp>
        <p:nvSpPr>
          <p:cNvPr id="51" name="Text 40"/>
          <p:cNvSpPr/>
          <p:nvPr/>
        </p:nvSpPr>
        <p:spPr>
          <a:xfrm>
            <a:off x="5623560" y="5266944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 v2 LoRA loaded locally on GPU</a:t>
            </a:r>
            <a:endParaRPr lang="en-US" sz="1100" dirty="0"/>
          </a:p>
        </p:txBody>
      </p:sp>
      <p:sp>
        <p:nvSpPr>
          <p:cNvPr id="52" name="Shape 41"/>
          <p:cNvSpPr/>
          <p:nvPr/>
        </p:nvSpPr>
        <p:spPr>
          <a:xfrm>
            <a:off x="8183880" y="5212080"/>
            <a:ext cx="3657600" cy="640080"/>
          </a:xfrm>
          <a:prstGeom prst="rect">
            <a:avLst/>
          </a:prstGeom>
          <a:solidFill>
            <a:srgbClr val="CADCFC">
              <a:alpha val="40000"/>
            </a:srgbClr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3" name="Shape 42"/>
          <p:cNvSpPr/>
          <p:nvPr/>
        </p:nvSpPr>
        <p:spPr>
          <a:xfrm>
            <a:off x="8183880" y="5212080"/>
            <a:ext cx="73152" cy="640080"/>
          </a:xfrm>
          <a:prstGeom prst="rect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4" name="Text 43"/>
          <p:cNvSpPr/>
          <p:nvPr/>
        </p:nvSpPr>
        <p:spPr>
          <a:xfrm>
            <a:off x="8366760" y="5266944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modal</a:t>
            </a:r>
            <a:endParaRPr lang="en-US" sz="1300" dirty="0"/>
          </a:p>
        </p:txBody>
      </p:sp>
      <p:sp>
        <p:nvSpPr>
          <p:cNvPr id="55" name="Text 44"/>
          <p:cNvSpPr/>
          <p:nvPr/>
        </p:nvSpPr>
        <p:spPr>
          <a:xfrm>
            <a:off x="9464040" y="5266944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 v2 LoRA on Modal (HTTPS)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41148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THE 7 MANDATORY CHECKS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68580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Per-field source + 27 CFR citation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TTB Label Verification  ·  Take-Home Implementation Overview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02920" y="1691640"/>
            <a:ext cx="11155680" cy="365760"/>
          </a:xfrm>
          <a:prstGeom prst="rect">
            <a:avLst/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74650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114800" y="174650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0" y="17465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Regulation cited by the engine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2920" y="2103120"/>
            <a:ext cx="1115568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CADCFC"/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176272"/>
            <a:ext cx="329184" cy="329184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097280" y="2176272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name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4114800" y="2176272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 v2 LoRA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8229600" y="2176272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27 CFR 4.32 / 5.63 / 7.63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502920" y="2606040"/>
            <a:ext cx="11155680" cy="475488"/>
          </a:xfrm>
          <a:prstGeom prst="rect">
            <a:avLst/>
          </a:prstGeom>
          <a:solidFill>
            <a:srgbClr val="F7F9FC"/>
          </a:solidFill>
          <a:ln w="6350">
            <a:solidFill>
              <a:srgbClr val="CADCFC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679192"/>
            <a:ext cx="329184" cy="329184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1097280" y="2679192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&amp; type</a:t>
            </a:r>
            <a:endParaRPr lang="en-US" sz="1300" dirty="0"/>
          </a:p>
        </p:txBody>
      </p:sp>
      <p:sp>
        <p:nvSpPr>
          <p:cNvPr id="19" name="Text 15"/>
          <p:cNvSpPr/>
          <p:nvPr/>
        </p:nvSpPr>
        <p:spPr>
          <a:xfrm>
            <a:off x="4114800" y="2679192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 v2 LoRA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8229600" y="2679192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27 CFR 4.32 / 5.63 / 7.63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502920" y="3108960"/>
            <a:ext cx="1115568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CADCFC"/>
            </a:solidFill>
            <a:prstDash val="solid"/>
          </a:ln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182112"/>
            <a:ext cx="329184" cy="329184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1097280" y="3182112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Bottler name &amp; address</a:t>
            </a:r>
            <a:endParaRPr lang="en-US" sz="1300" dirty="0"/>
          </a:p>
        </p:txBody>
      </p:sp>
      <p:sp>
        <p:nvSpPr>
          <p:cNvPr id="24" name="Text 19"/>
          <p:cNvSpPr/>
          <p:nvPr/>
        </p:nvSpPr>
        <p:spPr>
          <a:xfrm>
            <a:off x="4114800" y="3182112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 v2 LoRA</a:t>
            </a:r>
            <a:endParaRPr lang="en-US" sz="1200" dirty="0"/>
          </a:p>
        </p:txBody>
      </p:sp>
      <p:sp>
        <p:nvSpPr>
          <p:cNvPr id="25" name="Text 20"/>
          <p:cNvSpPr/>
          <p:nvPr/>
        </p:nvSpPr>
        <p:spPr>
          <a:xfrm>
            <a:off x="8229600" y="3182112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27 CFR 4.35 / 5.65 / 7.65</a:t>
            </a:r>
            <a:endParaRPr lang="en-US" sz="1100" dirty="0"/>
          </a:p>
        </p:txBody>
      </p:sp>
      <p:sp>
        <p:nvSpPr>
          <p:cNvPr id="26" name="Shape 21"/>
          <p:cNvSpPr/>
          <p:nvPr/>
        </p:nvSpPr>
        <p:spPr>
          <a:xfrm>
            <a:off x="502920" y="3611880"/>
            <a:ext cx="11155680" cy="475488"/>
          </a:xfrm>
          <a:prstGeom prst="rect">
            <a:avLst/>
          </a:prstGeom>
          <a:solidFill>
            <a:srgbClr val="F7F9FC"/>
          </a:solidFill>
          <a:ln w="6350">
            <a:solidFill>
              <a:srgbClr val="CADCFC"/>
            </a:solidFill>
            <a:prstDash val="solid"/>
          </a:ln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685032"/>
            <a:ext cx="329184" cy="329184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1097280" y="3685032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Country of origin</a:t>
            </a:r>
            <a:endParaRPr lang="en-US" sz="1300" dirty="0"/>
          </a:p>
        </p:txBody>
      </p:sp>
      <p:sp>
        <p:nvSpPr>
          <p:cNvPr id="29" name="Text 23"/>
          <p:cNvSpPr/>
          <p:nvPr/>
        </p:nvSpPr>
        <p:spPr>
          <a:xfrm>
            <a:off x="4114800" y="3685032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 v2 LoRA</a:t>
            </a:r>
            <a:endParaRPr lang="en-US" sz="1200" dirty="0"/>
          </a:p>
        </p:txBody>
      </p:sp>
      <p:sp>
        <p:nvSpPr>
          <p:cNvPr id="30" name="Text 24"/>
          <p:cNvSpPr/>
          <p:nvPr/>
        </p:nvSpPr>
        <p:spPr>
          <a:xfrm>
            <a:off x="8229600" y="3685032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27 CFR 4.35 / 5.66 / 7.65</a:t>
            </a:r>
            <a:endParaRPr lang="en-US" sz="1100" dirty="0"/>
          </a:p>
        </p:txBody>
      </p:sp>
      <p:sp>
        <p:nvSpPr>
          <p:cNvPr id="31" name="Shape 25"/>
          <p:cNvSpPr/>
          <p:nvPr/>
        </p:nvSpPr>
        <p:spPr>
          <a:xfrm>
            <a:off x="502920" y="4114800"/>
            <a:ext cx="1115568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CADCFC"/>
            </a:solidFill>
            <a:prstDash val="solid"/>
          </a:ln>
        </p:spPr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4187952"/>
            <a:ext cx="329184" cy="329184"/>
          </a:xfrm>
          <a:prstGeom prst="rect">
            <a:avLst/>
          </a:prstGeom>
        </p:spPr>
      </p:pic>
      <p:sp>
        <p:nvSpPr>
          <p:cNvPr id="33" name="Text 26"/>
          <p:cNvSpPr/>
          <p:nvPr/>
        </p:nvSpPr>
        <p:spPr>
          <a:xfrm>
            <a:off x="1097280" y="4187952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Alcohol content</a:t>
            </a:r>
            <a:endParaRPr lang="en-US" sz="1300" dirty="0"/>
          </a:p>
        </p:txBody>
      </p:sp>
      <p:sp>
        <p:nvSpPr>
          <p:cNvPr id="34" name="Text 27"/>
          <p:cNvSpPr/>
          <p:nvPr/>
        </p:nvSpPr>
        <p:spPr>
          <a:xfrm>
            <a:off x="4114800" y="4187952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 Haiku</a:t>
            </a:r>
            <a:endParaRPr lang="en-US" sz="1200" dirty="0"/>
          </a:p>
        </p:txBody>
      </p:sp>
      <p:sp>
        <p:nvSpPr>
          <p:cNvPr id="35" name="Text 28"/>
          <p:cNvSpPr/>
          <p:nvPr/>
        </p:nvSpPr>
        <p:spPr>
          <a:xfrm>
            <a:off x="8229600" y="4187952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27 CFR 4.36 / 5.65 / 7.71</a:t>
            </a:r>
            <a:endParaRPr lang="en-US" sz="1100" dirty="0"/>
          </a:p>
        </p:txBody>
      </p:sp>
      <p:sp>
        <p:nvSpPr>
          <p:cNvPr id="36" name="Shape 29"/>
          <p:cNvSpPr/>
          <p:nvPr/>
        </p:nvSpPr>
        <p:spPr>
          <a:xfrm>
            <a:off x="502920" y="4617720"/>
            <a:ext cx="11155680" cy="475488"/>
          </a:xfrm>
          <a:prstGeom prst="rect">
            <a:avLst/>
          </a:prstGeom>
          <a:solidFill>
            <a:srgbClr val="F7F9FC"/>
          </a:solidFill>
          <a:ln w="6350">
            <a:solidFill>
              <a:srgbClr val="CADCFC"/>
            </a:solidFill>
            <a:prstDash val="solid"/>
          </a:ln>
        </p:spPr>
      </p:sp>
      <p:pic>
        <p:nvPicPr>
          <p:cNvPr id="3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4690872"/>
            <a:ext cx="329184" cy="329184"/>
          </a:xfrm>
          <a:prstGeom prst="rect">
            <a:avLst/>
          </a:prstGeom>
        </p:spPr>
      </p:pic>
      <p:sp>
        <p:nvSpPr>
          <p:cNvPr id="38" name="Text 30"/>
          <p:cNvSpPr/>
          <p:nvPr/>
        </p:nvSpPr>
        <p:spPr>
          <a:xfrm>
            <a:off x="1097280" y="4690872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contents</a:t>
            </a:r>
            <a:endParaRPr lang="en-US" sz="1300" dirty="0"/>
          </a:p>
        </p:txBody>
      </p:sp>
      <p:sp>
        <p:nvSpPr>
          <p:cNvPr id="39" name="Text 31"/>
          <p:cNvSpPr/>
          <p:nvPr/>
        </p:nvSpPr>
        <p:spPr>
          <a:xfrm>
            <a:off x="4114800" y="4690872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 Haiku</a:t>
            </a:r>
            <a:endParaRPr lang="en-US" sz="1200" dirty="0"/>
          </a:p>
        </p:txBody>
      </p:sp>
      <p:sp>
        <p:nvSpPr>
          <p:cNvPr id="40" name="Text 32"/>
          <p:cNvSpPr/>
          <p:nvPr/>
        </p:nvSpPr>
        <p:spPr>
          <a:xfrm>
            <a:off x="8229600" y="4690872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27 CFR 4.37 / 5.47 / 7.27</a:t>
            </a:r>
            <a:endParaRPr lang="en-US" sz="1100" dirty="0"/>
          </a:p>
        </p:txBody>
      </p:sp>
      <p:sp>
        <p:nvSpPr>
          <p:cNvPr id="41" name="Shape 33"/>
          <p:cNvSpPr/>
          <p:nvPr/>
        </p:nvSpPr>
        <p:spPr>
          <a:xfrm>
            <a:off x="502920" y="5120640"/>
            <a:ext cx="1115568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CADCFC"/>
            </a:solidFill>
            <a:prstDash val="solid"/>
          </a:ln>
        </p:spPr>
      </p:sp>
      <p:pic>
        <p:nvPicPr>
          <p:cNvPr id="4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" y="5193792"/>
            <a:ext cx="329184" cy="329184"/>
          </a:xfrm>
          <a:prstGeom prst="rect">
            <a:avLst/>
          </a:prstGeom>
        </p:spPr>
      </p:pic>
      <p:sp>
        <p:nvSpPr>
          <p:cNvPr id="43" name="Text 34"/>
          <p:cNvSpPr/>
          <p:nvPr/>
        </p:nvSpPr>
        <p:spPr>
          <a:xfrm>
            <a:off x="1097280" y="5193792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 Warning</a:t>
            </a:r>
            <a:endParaRPr lang="en-US" sz="1300" dirty="0"/>
          </a:p>
        </p:txBody>
      </p:sp>
      <p:sp>
        <p:nvSpPr>
          <p:cNvPr id="44" name="Text 35"/>
          <p:cNvSpPr/>
          <p:nvPr/>
        </p:nvSpPr>
        <p:spPr>
          <a:xfrm>
            <a:off x="4114800" y="5193792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Tesseract OCR + Haiku verbatim</a:t>
            </a:r>
            <a:endParaRPr lang="en-US" sz="1200" dirty="0"/>
          </a:p>
        </p:txBody>
      </p:sp>
      <p:sp>
        <p:nvSpPr>
          <p:cNvPr id="45" name="Text 36"/>
          <p:cNvSpPr/>
          <p:nvPr/>
        </p:nvSpPr>
        <p:spPr>
          <a:xfrm>
            <a:off x="8229600" y="5193792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27 CFR 16.21 / 16.22</a:t>
            </a:r>
            <a:endParaRPr lang="en-US" sz="1100" dirty="0"/>
          </a:p>
        </p:txBody>
      </p:sp>
      <p:sp>
        <p:nvSpPr>
          <p:cNvPr id="46" name="Text 37"/>
          <p:cNvSpPr/>
          <p:nvPr/>
        </p:nvSpPr>
        <p:spPr>
          <a:xfrm>
            <a:off x="502920" y="598932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Hybrid by design: the 4 fields we have agency-clean training data for run on-prem (Qwen v2 LoRA). The 3 we don't yet have labeled data for run on Haiku — documented as a known external dependency that disappears when agency data lands for those fields.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41148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HEADLINE RESULT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68580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Qwen v2 LoRA — 2.1× Haiku on the 4 trained fields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TTB Label Verification  ·  Take-Home Implementation Overview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02920" y="1691640"/>
            <a:ext cx="4754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78.0%</a:t>
            </a:r>
            <a:endParaRPr lang="en-US" sz="13000" dirty="0"/>
          </a:p>
        </p:txBody>
      </p:sp>
      <p:sp>
        <p:nvSpPr>
          <p:cNvPr id="8" name="Text 6"/>
          <p:cNvSpPr/>
          <p:nvPr/>
        </p:nvSpPr>
        <p:spPr>
          <a:xfrm>
            <a:off x="502920" y="32461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 v2 LoRA · micro field accuracy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02920" y="37033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6B72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vs.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02920" y="416052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37.2%</a:t>
            </a:r>
            <a:endParaRPr lang="en-US" sz="7200" dirty="0"/>
          </a:p>
        </p:txBody>
      </p:sp>
      <p:sp>
        <p:nvSpPr>
          <p:cNvPr id="11" name="Text 9"/>
          <p:cNvSpPr/>
          <p:nvPr/>
        </p:nvSpPr>
        <p:spPr>
          <a:xfrm>
            <a:off x="502920" y="50292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 Haiku · zero-shot on the same labels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02920" y="55778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200-row TTB-stratified holdout · spirits / wine / beer-malt</a:t>
            </a:r>
            <a:endParaRPr lang="en-US" sz="1000" dirty="0"/>
          </a:p>
        </p:txBody>
      </p:sp>
      <p:graphicFrame>
        <p:nvGraphicFramePr>
          <p:cNvPr id="13" name="Chart 0" descr=""/>
          <p:cNvGraphicFramePr/>
          <p:nvPr/>
        </p:nvGraphicFramePr>
        <p:xfrm>
          <a:off x="5669280" y="1691640"/>
          <a:ext cx="612648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4" name="Text 11"/>
          <p:cNvSpPr/>
          <p:nvPr/>
        </p:nvSpPr>
        <p:spPr>
          <a:xfrm>
            <a:off x="5669280" y="5989320"/>
            <a:ext cx="612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Largest delta: +72.0pp on Class &amp; type — TTB's vocabulary ("SPANISH GRAPE BRANDY FB") is invisible to Haiku zero-shot but learned cleanly by the LoRA.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41148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WHY V2 BEAT V1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68580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Better data + narrower schema → 38% → 78%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TTB Label Verification  ·  Take-Home Implementation Overview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02920" y="1737360"/>
            <a:ext cx="544068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737360"/>
            <a:ext cx="91440" cy="3931920"/>
          </a:xfrm>
          <a:prstGeom prst="rect">
            <a:avLst/>
          </a:prstGeom>
          <a:solidFill>
            <a:srgbClr val="6B72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0116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6B72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v1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777240" y="2606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COLA Cloud baseline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77240" y="3063240"/>
            <a:ext cx="49377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data: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COLA Cloud free sample, N = 1,377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wide — 4 fields + Government Warning text + image quality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Epochs: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38.4% micro · hallucinated long warning text · 23% on Class &amp; type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72200" y="1737360"/>
            <a:ext cx="5440680" cy="3931920"/>
          </a:xfrm>
          <a:prstGeom prst="rect">
            <a:avLst/>
          </a:prstGeom>
          <a:solidFill>
            <a:srgbClr val="FFFFFF"/>
          </a:solidFill>
          <a:ln w="19050">
            <a:solidFill>
              <a:srgbClr val="028090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172200" y="1737360"/>
            <a:ext cx="91440" cy="3931920"/>
          </a:xfrm>
          <a:prstGeom prst="rect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46520" y="20116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2809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v2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6446520" y="26060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TTB Registry · production target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46520" y="3063240"/>
            <a:ext cx="49377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data: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TTB Public COLA Registry, stratified scrape, N = 8,968 (6.5×)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narrowed — 4 fields only · GW handled by deterministic OCR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Epochs: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78.0% micro · zero hallucination · 91.5% on Class &amp; type</a:t>
            </a:r>
            <a:endParaRPr lang="en-US" sz="1200" dirty="0"/>
          </a:p>
        </p:txBody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06440" y="3520440"/>
            <a:ext cx="411480" cy="41148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502920" y="585216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takeaways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502920" y="612648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matters: </a:t>
            </a:r>
            <a:pPr indent="0" marL="0">
              <a:buNone/>
            </a:pPr>
            <a:r>
              <a:rPr lang="en-US" sz="1100" i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6.5× more data + 50% more epochs explains the bulk of the gain. </a:t>
            </a:r>
            <a:pPr indent="0" marL="0">
              <a:buNone/>
            </a:pPr>
            <a:r>
              <a:rPr lang="en-US" sz="1100" b="1" i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discipline matters: </a:t>
            </a:r>
            <a:pPr indent="0" marL="0">
              <a:buNone/>
            </a:pPr>
            <a:r>
              <a:rPr lang="en-US" sz="1100" i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narrowing to fields with clean ground truth eliminated v1's warning-text hallucination — the engine handles that field deterministically instead.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41148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IMPLEMENTATION TIMELINE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68580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 days · 91 commits · 6 inference adapters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TTB Label Verification  ·  Take-Home Implementation Overview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463040" y="1965960"/>
            <a:ext cx="45720" cy="3977640"/>
          </a:xfrm>
          <a:prstGeom prst="rect">
            <a:avLst/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325880" y="2011680"/>
            <a:ext cx="320040" cy="320040"/>
          </a:xfrm>
          <a:prstGeom prst="oval">
            <a:avLst/>
          </a:prstGeom>
          <a:solidFill>
            <a:srgbClr val="02809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828800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02920" y="219456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1874520" y="1737360"/>
            <a:ext cx="97840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057400" y="178308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Scaffold + rules engine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915400" y="178308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4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commits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057400" y="210312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frontend, FastAPI backend, 27 CFR rules engine, 6 swappable extractors, 78 unit tests. Zero model training yet.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1325880" y="2880360"/>
            <a:ext cx="320040" cy="320040"/>
          </a:xfrm>
          <a:prstGeom prst="oval">
            <a:avLst/>
          </a:prstGeom>
          <a:solidFill>
            <a:srgbClr val="02809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2697480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2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502920" y="30632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23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874520" y="2606040"/>
            <a:ext cx="97840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057400" y="265176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SFT exploration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915400" y="26517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4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 commits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2057400" y="297180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base models compared (Qwen, Phi, InternVL3, Kimi, Donut). Qwen2.5-VL wins. v1 trained on COLA Cloud, within 6pp of Claude.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1325880" y="3749040"/>
            <a:ext cx="320040" cy="320040"/>
          </a:xfrm>
          <a:prstGeom prst="oval">
            <a:avLst/>
          </a:prstGeom>
          <a:solidFill>
            <a:srgbClr val="02809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02920" y="3566160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3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502920" y="39319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24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874520" y="3474720"/>
            <a:ext cx="97840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057400" y="352044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Agency data pipeline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8915400" y="352044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4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commits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2057400" y="3840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TTB Public COLA Registry scraper, stratified pulls (spirits / wine / beer-malt), v2 training pipeline + head-to-head harness.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325880" y="4617720"/>
            <a:ext cx="320040" cy="320040"/>
          </a:xfrm>
          <a:prstGeom prst="oval">
            <a:avLst/>
          </a:prstGeom>
          <a:solidFill>
            <a:srgbClr val="02809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02920" y="4434840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4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502920" y="480060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25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1874520" y="4343400"/>
            <a:ext cx="97840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057400" y="438912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v2 training on Colab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8915400" y="438912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4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commits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2057400" y="4709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 v2 trained on N=8,968 stratified labels, BF16, Colab A100. Leakage guards, session-resilient checkpointing, 200-row eval.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325880" y="5486400"/>
            <a:ext cx="320040" cy="320040"/>
          </a:xfrm>
          <a:prstGeom prst="oval">
            <a:avLst/>
          </a:prstGeom>
          <a:solidFill>
            <a:srgbClr val="02809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02920" y="5303520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5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502920" y="566928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26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1874520" y="5212080"/>
            <a:ext cx="97840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57400" y="52578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Deploy + scorer fix + ship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8915400" y="525780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4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commits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2057400" y="5577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 (Haiku) live, Modal (Qwen v2) validated. b817f82 scorer fix revealed 78% real accuracy. GitHub Release with weights + eval pack.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41148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8 · THREE DEPLOYMENT TOPOLOGIES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68580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Same code · different boundary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TTB Label Verification  ·  Take-Home Implementation Overview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11480" y="1691640"/>
            <a:ext cx="365760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11480" y="1691640"/>
            <a:ext cx="3657600" cy="109728"/>
          </a:xfrm>
          <a:prstGeom prst="rect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965960"/>
            <a:ext cx="82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02809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endParaRPr lang="en-US" sz="72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0" y="2103120"/>
            <a:ext cx="502920" cy="50292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2514600" y="2057400"/>
            <a:ext cx="594360" cy="274320"/>
          </a:xfrm>
          <a:prstGeom prst="rect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514600" y="2075688"/>
            <a:ext cx="594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777240" y="29718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Public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777240" y="342900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 + Haiku — currently live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777240" y="3840480"/>
            <a:ext cx="29260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on Vercel CDN. FastAPI as a serverless function. Vision extraction via Anthropic API. Privacy posture: label images traverse Anthropic at inference time.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777240" y="5577840"/>
            <a:ext cx="2926080" cy="18288"/>
          </a:xfrm>
          <a:prstGeom prst="rect">
            <a:avLst/>
          </a:prstGeom>
          <a:solidFill>
            <a:srgbClr val="CADCF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77240" y="566928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777240" y="58521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$0–5/mo + $1/1000 labels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777240" y="6062472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777240" y="6245352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· external API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4251960" y="1691640"/>
            <a:ext cx="365760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6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4251960" y="1691640"/>
            <a:ext cx="3657600" cy="109728"/>
          </a:xfrm>
          <a:prstGeom prst="rect">
            <a:avLst/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617720" y="1965960"/>
            <a:ext cx="82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</a:t>
            </a:r>
            <a:endParaRPr lang="en-US" sz="7200" dirty="0"/>
          </a:p>
        </p:txBody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2103120"/>
            <a:ext cx="502920" cy="502920"/>
          </a:xfrm>
          <a:prstGeom prst="rect">
            <a:avLst/>
          </a:prstGeom>
        </p:spPr>
      </p:pic>
      <p:sp>
        <p:nvSpPr>
          <p:cNvPr id="25" name="Text 21"/>
          <p:cNvSpPr/>
          <p:nvPr/>
        </p:nvSpPr>
        <p:spPr>
          <a:xfrm>
            <a:off x="4617720" y="29718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Privacy-first</a:t>
            </a:r>
            <a:endParaRPr lang="en-US" sz="2200" dirty="0"/>
          </a:p>
        </p:txBody>
      </p:sp>
      <p:sp>
        <p:nvSpPr>
          <p:cNvPr id="26" name="Text 22"/>
          <p:cNvSpPr/>
          <p:nvPr/>
        </p:nvSpPr>
        <p:spPr>
          <a:xfrm>
            <a:off x="4617720" y="342900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 · Cerebrium · RunPod</a:t>
            </a:r>
            <a:endParaRPr lang="en-US" sz="1100" dirty="0"/>
          </a:p>
        </p:txBody>
      </p:sp>
      <p:sp>
        <p:nvSpPr>
          <p:cNvPr id="27" name="Text 23"/>
          <p:cNvSpPr/>
          <p:nvPr/>
        </p:nvSpPr>
        <p:spPr>
          <a:xfrm>
            <a:off x="4617720" y="3840480"/>
            <a:ext cx="29260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React + FastAPI. Vision extraction via Qwen v2 LoRA on container-served GPU. No external API. Scale-to-zero. Validated separately on 200-row holdout.</a:t>
            </a:r>
            <a:endParaRPr lang="en-US" sz="1200" dirty="0"/>
          </a:p>
        </p:txBody>
      </p:sp>
      <p:sp>
        <p:nvSpPr>
          <p:cNvPr id="28" name="Shape 24"/>
          <p:cNvSpPr/>
          <p:nvPr/>
        </p:nvSpPr>
        <p:spPr>
          <a:xfrm>
            <a:off x="4617720" y="5577840"/>
            <a:ext cx="2926080" cy="18288"/>
          </a:xfrm>
          <a:prstGeom prst="rect">
            <a:avLst/>
          </a:prstGeom>
          <a:solidFill>
            <a:srgbClr val="CADCF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4617720" y="566928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</a:t>
            </a:r>
            <a:endParaRPr lang="en-US" sz="900" dirty="0"/>
          </a:p>
        </p:txBody>
      </p:sp>
      <p:sp>
        <p:nvSpPr>
          <p:cNvPr id="30" name="Text 26"/>
          <p:cNvSpPr/>
          <p:nvPr/>
        </p:nvSpPr>
        <p:spPr>
          <a:xfrm>
            <a:off x="4617720" y="58521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$0/hr idle · $0.001/req active</a:t>
            </a:r>
            <a:endParaRPr lang="en-US" sz="1100" dirty="0"/>
          </a:p>
        </p:txBody>
      </p:sp>
      <p:sp>
        <p:nvSpPr>
          <p:cNvPr id="31" name="Text 27"/>
          <p:cNvSpPr/>
          <p:nvPr/>
        </p:nvSpPr>
        <p:spPr>
          <a:xfrm>
            <a:off x="4617720" y="6062472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endParaRPr lang="en-US" sz="900" dirty="0"/>
          </a:p>
        </p:txBody>
      </p:sp>
      <p:sp>
        <p:nvSpPr>
          <p:cNvPr id="32" name="Text 28"/>
          <p:cNvSpPr/>
          <p:nvPr/>
        </p:nvSpPr>
        <p:spPr>
          <a:xfrm>
            <a:off x="4617720" y="6245352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provider · auditable</a:t>
            </a:r>
            <a:endParaRPr lang="en-US" sz="1100" dirty="0"/>
          </a:p>
        </p:txBody>
      </p:sp>
      <p:sp>
        <p:nvSpPr>
          <p:cNvPr id="33" name="Shape 29"/>
          <p:cNvSpPr/>
          <p:nvPr/>
        </p:nvSpPr>
        <p:spPr>
          <a:xfrm>
            <a:off x="8092440" y="1691640"/>
            <a:ext cx="365760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6000"/>
              </a:srgbClr>
            </a:outerShdw>
          </a:effectLst>
        </p:spPr>
      </p:sp>
      <p:sp>
        <p:nvSpPr>
          <p:cNvPr id="34" name="Shape 30"/>
          <p:cNvSpPr/>
          <p:nvPr/>
        </p:nvSpPr>
        <p:spPr>
          <a:xfrm>
            <a:off x="8092440" y="1691640"/>
            <a:ext cx="3657600" cy="109728"/>
          </a:xfrm>
          <a:prstGeom prst="rect">
            <a:avLst/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8458200" y="1965960"/>
            <a:ext cx="82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</a:t>
            </a:r>
            <a:endParaRPr lang="en-US" sz="7200" dirty="0"/>
          </a:p>
        </p:txBody>
      </p:sp>
      <p:pic>
        <p:nvPicPr>
          <p:cNvPr id="3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1360" y="2103120"/>
            <a:ext cx="502920" cy="502920"/>
          </a:xfrm>
          <a:prstGeom prst="rect">
            <a:avLst/>
          </a:prstGeom>
        </p:spPr>
      </p:pic>
      <p:sp>
        <p:nvSpPr>
          <p:cNvPr id="37" name="Text 32"/>
          <p:cNvSpPr/>
          <p:nvPr/>
        </p:nvSpPr>
        <p:spPr>
          <a:xfrm>
            <a:off x="8458200" y="29718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Agency-hosted</a:t>
            </a:r>
            <a:endParaRPr lang="en-US" sz="2200" dirty="0"/>
          </a:p>
        </p:txBody>
      </p:sp>
      <p:sp>
        <p:nvSpPr>
          <p:cNvPr id="38" name="Text 33"/>
          <p:cNvSpPr/>
          <p:nvPr/>
        </p:nvSpPr>
        <p:spPr>
          <a:xfrm>
            <a:off x="8458200" y="342900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Gov / Azure ML · on-prem GPU</a:t>
            </a:r>
            <a:endParaRPr lang="en-US" sz="1100" dirty="0"/>
          </a:p>
        </p:txBody>
      </p:sp>
      <p:sp>
        <p:nvSpPr>
          <p:cNvPr id="39" name="Text 34"/>
          <p:cNvSpPr/>
          <p:nvPr/>
        </p:nvSpPr>
        <p:spPr>
          <a:xfrm>
            <a:off x="8458200" y="3840480"/>
            <a:ext cx="29260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Docker image inside FedRAMP boundary. INFERENCE_MODE=sft loads the LoRA on agency GPU. Zero outbound calls. Rules engine identical. Production target.</a:t>
            </a:r>
            <a:endParaRPr lang="en-US" sz="1200" dirty="0"/>
          </a:p>
        </p:txBody>
      </p:sp>
      <p:sp>
        <p:nvSpPr>
          <p:cNvPr id="40" name="Shape 35"/>
          <p:cNvSpPr/>
          <p:nvPr/>
        </p:nvSpPr>
        <p:spPr>
          <a:xfrm>
            <a:off x="8458200" y="5577840"/>
            <a:ext cx="2926080" cy="18288"/>
          </a:xfrm>
          <a:prstGeom prst="rect">
            <a:avLst/>
          </a:prstGeom>
          <a:solidFill>
            <a:srgbClr val="CADCF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1" name="Text 36"/>
          <p:cNvSpPr/>
          <p:nvPr/>
        </p:nvSpPr>
        <p:spPr>
          <a:xfrm>
            <a:off x="8458200" y="566928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</a:t>
            </a:r>
            <a:endParaRPr lang="en-US" sz="900" dirty="0"/>
          </a:p>
        </p:txBody>
      </p:sp>
      <p:sp>
        <p:nvSpPr>
          <p:cNvPr id="42" name="Text 37"/>
          <p:cNvSpPr/>
          <p:nvPr/>
        </p:nvSpPr>
        <p:spPr>
          <a:xfrm>
            <a:off x="8458200" y="58521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agency Azure spend</a:t>
            </a:r>
            <a:endParaRPr lang="en-US" sz="1100" dirty="0"/>
          </a:p>
        </p:txBody>
      </p:sp>
      <p:sp>
        <p:nvSpPr>
          <p:cNvPr id="43" name="Text 38"/>
          <p:cNvSpPr/>
          <p:nvPr/>
        </p:nvSpPr>
        <p:spPr>
          <a:xfrm>
            <a:off x="8458200" y="6062472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endParaRPr lang="en-US" sz="900" dirty="0"/>
          </a:p>
        </p:txBody>
      </p:sp>
      <p:sp>
        <p:nvSpPr>
          <p:cNvPr id="44" name="Text 39"/>
          <p:cNvSpPr/>
          <p:nvPr/>
        </p:nvSpPr>
        <p:spPr>
          <a:xfrm>
            <a:off x="8458200" y="6245352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FedRAMP High · IL4/5</a:t>
            </a:r>
            <a:endParaRPr lang="en-US" sz="1100" dirty="0"/>
          </a:p>
        </p:txBody>
      </p:sp>
      <p:sp>
        <p:nvSpPr>
          <p:cNvPr id="45" name="Text 40"/>
          <p:cNvSpPr/>
          <p:nvPr/>
        </p:nvSpPr>
        <p:spPr>
          <a:xfrm>
            <a:off x="502920" y="64465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Swapping topology is one env var. The verifier code never changes.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41148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9 · WHAT'S LIVE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68580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Demo URL + downloadable weights for independent validation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TTB Label Verification  ·  Take-Home Implementation Overview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02920" y="1737360"/>
            <a:ext cx="5577840" cy="4206240"/>
          </a:xfrm>
          <a:prstGeom prst="rect">
            <a:avLst/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38100" dir="8100000">
              <a:srgbClr val="000000">
                <a:alpha val="1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02920" y="5833872"/>
            <a:ext cx="5577840" cy="109728"/>
          </a:xfrm>
          <a:prstGeom prst="rect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0574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77240" y="237744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ttb-label-verification-ebon.vercel.app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77240" y="3291840"/>
            <a:ext cx="5029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Mode: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 Haiku (cloud)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Latency: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5–7 s warm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Samples: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 real TTB-approved labels (curated)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Checks: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7 mandatory fields + GW verbatim &amp; casing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263640" y="1737360"/>
            <a:ext cx="5577840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52400" dist="38100" dir="81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263640" y="5833872"/>
            <a:ext cx="5577840" cy="109728"/>
          </a:xfrm>
          <a:prstGeom prst="rect">
            <a:avLst/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37960" y="20574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RELEASE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537960" y="23774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v0.1.0 — Qwen v2 LoRA + Eval Pack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537960" y="283464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github.com/vsiwach/ttb-label-verification/releases/tag/v0.1.0</a:t>
            </a:r>
            <a:endParaRPr lang="en-US" sz="1000" dirty="0"/>
          </a:p>
        </p:txBody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3291840"/>
            <a:ext cx="274320" cy="27432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6903720" y="329184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ttb_qwen_v2_adapter.zip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903720" y="3584448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152 MB · 3-epoch, BF16, N=8,968</a:t>
            </a:r>
            <a:endParaRPr lang="en-US" sz="1000" dirty="0"/>
          </a:p>
        </p:txBody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4069080"/>
            <a:ext cx="274320" cy="274320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6903720" y="406908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ttb_qwen_v1_adapter.zip</a:t>
            </a:r>
            <a:endParaRPr lang="en-US" sz="1100" dirty="0"/>
          </a:p>
        </p:txBody>
      </p:sp>
      <p:sp>
        <p:nvSpPr>
          <p:cNvPr id="22" name="Text 18"/>
          <p:cNvSpPr/>
          <p:nvPr/>
        </p:nvSpPr>
        <p:spPr>
          <a:xfrm>
            <a:off x="6903720" y="4361688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146 MB · COLA Cloud baseline (ablation)</a:t>
            </a:r>
            <a:endParaRPr lang="en-US" sz="1000" dirty="0"/>
          </a:p>
        </p:txBody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60" y="4846320"/>
            <a:ext cx="274320" cy="274320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6903720" y="484632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ttb_eval_pack.zip</a:t>
            </a:r>
            <a:endParaRPr lang="en-US" sz="1100" dirty="0"/>
          </a:p>
        </p:txBody>
      </p:sp>
      <p:sp>
        <p:nvSpPr>
          <p:cNvPr id="25" name="Text 20"/>
          <p:cNvSpPr/>
          <p:nvPr/>
        </p:nvSpPr>
        <p:spPr>
          <a:xfrm>
            <a:off x="6903720" y="5138928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 KB · 200-row v1/v2/Haiku predictions + scorer</a:t>
            </a:r>
            <a:endParaRPr lang="en-US" sz="1000" dirty="0"/>
          </a:p>
        </p:txBody>
      </p:sp>
      <p:sp>
        <p:nvSpPr>
          <p:cNvPr id="26" name="Text 21"/>
          <p:cNvSpPr/>
          <p:nvPr/>
        </p:nvSpPr>
        <p:spPr>
          <a:xfrm>
            <a:off x="502920" y="61722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Treasury can validate the on-prem path independently by downloading the v2 adapter and pointing any GPU host's deployment script at it.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41148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10 · KEY TRADE-OFFS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68580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Decisions made + what they cost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TTB Label Verification  ·  Take-Home Implementation Overview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02920" y="1737360"/>
            <a:ext cx="539496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02920" y="1737360"/>
            <a:ext cx="73152" cy="2148840"/>
          </a:xfrm>
          <a:prstGeom prst="rect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011680"/>
            <a:ext cx="502920" cy="50292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463040" y="2011680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Buy + train, not buy or train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777240" y="2651760"/>
            <a:ext cx="4937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 Claude (cloud) AND Qwen (open-weights LoRA) end-to-end on the same eval set in parallel. Refused to pick one before measuring. Result: v2 won decisively on the trained fields, Haiku held on long-text reading.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172200" y="1737360"/>
            <a:ext cx="539496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172200" y="1737360"/>
            <a:ext cx="73152" cy="2148840"/>
          </a:xfrm>
          <a:prstGeom prst="rect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2011680"/>
            <a:ext cx="502920" cy="50292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132320" y="2011680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Get data from the source</a:t>
            </a:r>
            <a:endParaRPr lang="en-US" sz="1600" dirty="0"/>
          </a:p>
        </p:txBody>
      </p:sp>
      <p:sp>
        <p:nvSpPr>
          <p:cNvPr id="16" name="Text 12"/>
          <p:cNvSpPr/>
          <p:nvPr/>
        </p:nvSpPr>
        <p:spPr>
          <a:xfrm>
            <a:off x="6446520" y="2651760"/>
            <a:ext cx="4937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COLA Cloud's CC0 mirror had OCR-spillage in brand/class. Scraped 20K labels directly from the TTB Public COLA Registry at 0.5 req/sec (polite). 6.5× the data was the headline change that pushed v2 to 78%.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502920" y="4069080"/>
            <a:ext cx="539496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6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502920" y="4069080"/>
            <a:ext cx="73152" cy="2148840"/>
          </a:xfrm>
          <a:prstGeom prst="rect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343400"/>
            <a:ext cx="502920" cy="50292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463040" y="4343400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Narrow the schema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777240" y="4983480"/>
            <a:ext cx="4937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v1's wide schema (4 fields + warning text) caused hallucination on long verbatim text. v2 retrained fields-only; warning text handled by deterministic OCR + canonical-text matching in the rules engine. Hallucination on warning → 0.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6172200" y="4069080"/>
            <a:ext cx="539496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6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6172200" y="4069080"/>
            <a:ext cx="73152" cy="2148840"/>
          </a:xfrm>
          <a:prstGeom prst="rect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6520" y="4343400"/>
            <a:ext cx="502920" cy="50292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7132320" y="4343400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Architecture portability is the durable value</a:t>
            </a:r>
            <a:endParaRPr lang="en-US" sz="1600" dirty="0"/>
          </a:p>
        </p:txBody>
      </p:sp>
      <p:sp>
        <p:nvSpPr>
          <p:cNvPr id="26" name="Text 20"/>
          <p:cNvSpPr/>
          <p:nvPr/>
        </p:nvSpPr>
        <p:spPr>
          <a:xfrm>
            <a:off x="6446520" y="4983480"/>
            <a:ext cx="4937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interchangeable extractors behind one ABC. Treasury can swap Modal → Cerebrium → Azure ML → on-prem with one env var. The rules engine — the legal logic — never changes across providers.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11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120640"/>
            <a:ext cx="12161520" cy="45720"/>
          </a:xfrm>
          <a:prstGeom prst="rect">
            <a:avLst/>
          </a:prstGeom>
          <a:solidFill>
            <a:srgbClr val="CADCF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6400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NEXT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prototype to production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40080" y="2377440"/>
            <a:ext cx="502920" cy="502920"/>
          </a:xfrm>
          <a:prstGeom prst="oval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377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280160" y="23317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Move inference inside the FedRAMP boundary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80160" y="27432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the same Docker image to Azure ML Online Endpoints inside Azure Government (FedRAMP High, IL4/5). Verifier code unchanged — INFERENCE_MODE=azure_ml is the only new piece. Sub-FedRAMP cloud APIs eliminated.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3474720"/>
            <a:ext cx="502920" cy="502920"/>
          </a:xfrm>
          <a:prstGeom prst="oval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3474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280160" y="342900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Expand on-prem coverage with agency data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280160" y="384048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ABV / Net contents / Warning text currently use Haiku (cloud). When agency-labeled training data lands for those fields, the same LoRA pipeline absorbs them and Haiku exits the loop. Privacy posture improves field-by-field.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4572000"/>
            <a:ext cx="502920" cy="502920"/>
          </a:xfrm>
          <a:prstGeom prst="oval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572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280160" y="45262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Productionize the deterministic checks we deferred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280160" y="49377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CFR 16.22 type-size (font_mm via Tesseract bbox + EXIF DPI) is wired but currently degrades when DPI is missing (~49% of labels). Capture DPI at COLA submission → check goes from "not assessable" to enforced.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0080" y="594360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Take-home repo · github.com/vsiwach/ttb-label-verification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40080" y="626364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Live demo · ttb-label-verification-ebon.vercel.app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TTB Label Verification — Executive Overview</dc:title>
  <dc:subject>PptxGenJS Presentation</dc:subject>
  <dc:creator>Vikram Siwach</dc:creator>
  <cp:lastModifiedBy>Vikram Siwach</cp:lastModifiedBy>
  <cp:revision>1</cp:revision>
  <dcterms:created xsi:type="dcterms:W3CDTF">2026-05-27T02:38:59Z</dcterms:created>
  <dcterms:modified xsi:type="dcterms:W3CDTF">2026-05-27T02:38:59Z</dcterms:modified>
</cp:coreProperties>
</file>