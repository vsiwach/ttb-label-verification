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Qwen v2 LoRA (on-prem)</c:v>
                </c:pt>
              </c:strCache>
            </c:strRef>
          </c:tx>
          <c:spPr>
            <a:solidFill>
              <a:srgbClr val="028090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1F2937"/>
                    </a:solidFill>
                    <a:latin typeface="Calibr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Brand</c:v>
                  </c:pt>
                  <c:pt idx="1">
                    <c:v>Class &amp; type</c:v>
                  </c:pt>
                  <c:pt idx="2">
                    <c:v>Bottler</c:v>
                  </c:pt>
                  <c:pt idx="3">
                    <c:v>Country</c:v>
                  </c:pt>
                </c:lvl>
              </c:multiLvlStrCache>
            </c:multiLvl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82</c:v>
                </c:pt>
                <c:pt idx="1">
                  <c:v>91.5</c:v>
                </c:pt>
                <c:pt idx="2">
                  <c:v>52</c:v>
                </c:pt>
                <c:pt idx="3">
                  <c:v>95.8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Haiku (cloud, zero-shot)</c:v>
                </c:pt>
              </c:strCache>
            </c:strRef>
          </c:tx>
          <c:spPr>
            <a:solidFill>
              <a:srgbClr val="F96167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1F2937"/>
                    </a:solidFill>
                    <a:latin typeface="Calibr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Brand</c:v>
                  </c:pt>
                  <c:pt idx="1">
                    <c:v>Class &amp; type</c:v>
                  </c:pt>
                  <c:pt idx="2">
                    <c:v>Bottler</c:v>
                  </c:pt>
                  <c:pt idx="3">
                    <c:v>Country</c:v>
                  </c:pt>
                </c:lvl>
              </c:multiLvlStrCache>
            </c:multiLvl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67</c:v>
                </c:pt>
                <c:pt idx="1">
                  <c:v>19.5</c:v>
                </c:pt>
                <c:pt idx="2">
                  <c:v>1</c:v>
                </c:pt>
                <c:pt idx="3">
                  <c:v>87.5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900" u="none">
                  <a:solidFill>
                    <a:srgbClr val="1F2937"/>
                  </a:solidFill>
                  <a:latin typeface="Calibri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1F2937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00"/>
        </c:scaling>
        <c:delete val="0"/>
        <c:axPos val="l"/>
        <c:majorGridlines>
          <c:spPr>
            <a:ln w="6350" cap="flat">
              <a:solidFill>
                <a:srgbClr val="E2E8F0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100"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image" Target="../media/image-4-4.png"/><Relationship Id="rId5" Type="http://schemas.openxmlformats.org/officeDocument/2006/relationships/image" Target="../media/image-4-5.png"/><Relationship Id="rId6" Type="http://schemas.openxmlformats.org/officeDocument/2006/relationships/image" Target="../media/image-4-6.png"/><Relationship Id="rId7" Type="http://schemas.openxmlformats.org/officeDocument/2006/relationships/image" Target="../media/image-4-7.png"/><Relationship Id="rId8" Type="http://schemas.openxmlformats.org/officeDocument/2006/relationships/image" Target="../media/image-4-8.png"/><Relationship Id="rId9" Type="http://schemas.openxmlformats.org/officeDocument/2006/relationships/image" Target="../media/image-4-9.png"/><Relationship Id="rId10" Type="http://schemas.openxmlformats.org/officeDocument/2006/relationships/slideLayout" Target="../slideLayouts/slideLayout1.xml"/><Relationship Id="rId11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image" Target="../media/image-5-4.png"/><Relationship Id="rId5" Type="http://schemas.openxmlformats.org/officeDocument/2006/relationships/image" Target="../media/image-5-5.png"/><Relationship Id="rId6" Type="http://schemas.openxmlformats.org/officeDocument/2006/relationships/image" Target="../media/image-5-6.png"/><Relationship Id="rId7" Type="http://schemas.openxmlformats.org/officeDocument/2006/relationships/image" Target="../media/image-5-7.png"/><Relationship Id="rId8" Type="http://schemas.openxmlformats.org/officeDocument/2006/relationships/slideLayout" Target="../slideLayouts/slideLayout1.xml"/><Relationship Id="rId9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chart" Target="..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image" Target="../media/image-9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image" Target="../media/image-10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image" Target="../media/image-11-3.png"/><Relationship Id="rId4" Type="http://schemas.openxmlformats.org/officeDocument/2006/relationships/image" Target="../media/image-11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11A4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5120640"/>
            <a:ext cx="12161520" cy="45720"/>
          </a:xfrm>
          <a:prstGeom prst="rect">
            <a:avLst/>
          </a:prstGeom>
          <a:solidFill>
            <a:srgbClr val="CADCF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640080" y="1920240"/>
            <a:ext cx="10881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800" kern="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AI-POWERED ALCOHOL LABEL VERIFICATION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640080" y="2377440"/>
            <a:ext cx="108813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0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TTB Label Verification</a:t>
            </a:r>
            <a:endParaRPr lang="en-US" sz="6000" dirty="0"/>
          </a:p>
        </p:txBody>
      </p:sp>
      <p:sp>
        <p:nvSpPr>
          <p:cNvPr id="5" name="Text 3"/>
          <p:cNvSpPr/>
          <p:nvPr/>
        </p:nvSpPr>
        <p:spPr>
          <a:xfrm>
            <a:off x="640080" y="3611880"/>
            <a:ext cx="10881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i="1" dirty="0">
                <a:solidFill>
                  <a:srgbClr val="CADCF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Executive overview of the take-home implementation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640080" y="5440680"/>
            <a:ext cx="3200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78.0%</a:t>
            </a:r>
            <a:endParaRPr lang="en-US" sz="4400" dirty="0"/>
          </a:p>
        </p:txBody>
      </p:sp>
      <p:sp>
        <p:nvSpPr>
          <p:cNvPr id="7" name="Text 5"/>
          <p:cNvSpPr/>
          <p:nvPr/>
        </p:nvSpPr>
        <p:spPr>
          <a:xfrm>
            <a:off x="640080" y="598932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Qwen v2 LoRA accuracy — 2× Haiku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4572000" y="5440680"/>
            <a:ext cx="3200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5 days</a:t>
            </a:r>
            <a:endParaRPr lang="en-US" sz="4400" dirty="0"/>
          </a:p>
        </p:txBody>
      </p:sp>
      <p:sp>
        <p:nvSpPr>
          <p:cNvPr id="9" name="Text 7"/>
          <p:cNvSpPr/>
          <p:nvPr/>
        </p:nvSpPr>
        <p:spPr>
          <a:xfrm>
            <a:off x="4572000" y="598932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End-to-end build, 91 commits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8503920" y="5440680"/>
            <a:ext cx="3200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7 / 7</a:t>
            </a:r>
            <a:endParaRPr lang="en-US" sz="4400" dirty="0"/>
          </a:p>
        </p:txBody>
      </p:sp>
      <p:sp>
        <p:nvSpPr>
          <p:cNvPr id="11" name="Text 9"/>
          <p:cNvSpPr/>
          <p:nvPr/>
        </p:nvSpPr>
        <p:spPr>
          <a:xfrm>
            <a:off x="8503920" y="598932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Mandatory checks implemented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640080" y="4206240"/>
            <a:ext cx="10881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Vikram Siwach · May 2026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7F9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E276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02920" y="411480"/>
            <a:ext cx="11247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600" kern="0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1 · 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502920" y="685800"/>
            <a:ext cx="112471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Manual label review at federal scale</a:t>
            </a:r>
            <a:endParaRPr lang="en-US" sz="3200" dirty="0"/>
          </a:p>
        </p:txBody>
      </p:sp>
      <p:sp>
        <p:nvSpPr>
          <p:cNvPr id="5" name="Text 3"/>
          <p:cNvSpPr/>
          <p:nvPr/>
        </p:nvSpPr>
        <p:spPr>
          <a:xfrm>
            <a:off x="502920" y="644652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TTB Label Verification  ·  Take-Home Implementation Overview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10972800" y="644652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/ 12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502920" y="1691640"/>
            <a:ext cx="603504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600"/>
              </a:spcAft>
              <a:buNone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TTB reviews ~150,000 alcohol label applications per year with 47 agents. A simple review takes 5–10 minutes — half the agent's day is mechanical matching: brand, ABV, net contents, government warning. Past automation attempts failed at &gt;5s/label latency; agents abandoned them.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502920" y="3429000"/>
            <a:ext cx="6035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Constraints from stakeholder interviews: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502920" y="3794760"/>
            <a:ext cx="603504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≤ 5 seconds per label — non-negotiable, was the deal-breaker for the prior vendor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Approachable for agents 50+ (half the workforce) and a 73-year-old benchmark user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Federal firewall blocks most outbound traffic to public ML endpoints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Batch upload of 200–300 labels (peak-season importer flows)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7040880" y="1691640"/>
            <a:ext cx="4572000" cy="1325880"/>
          </a:xfrm>
          <a:prstGeom prst="rect">
            <a:avLst/>
          </a:prstGeom>
          <a:solidFill>
            <a:srgbClr val="FFFFFF"/>
          </a:solidFill>
          <a:ln w="12700">
            <a:solidFill>
              <a:srgbClr val="CADCFC"/>
            </a:solidFill>
            <a:prstDash val="solid"/>
          </a:ln>
          <a:effectLst>
            <a:outerShdw sx="100000" sy="100000" kx="0" ky="0" algn="bl" rotWithShape="0" blurRad="101600" dist="25400" dir="8100000">
              <a:srgbClr val="000000">
                <a:alpha val="6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7040880" y="1691640"/>
            <a:ext cx="73152" cy="1325880"/>
          </a:xfrm>
          <a:prstGeom prst="rect">
            <a:avLst/>
          </a:prstGeom>
          <a:solidFill>
            <a:srgbClr val="1E2761"/>
          </a:solidFill>
          <a:ln w="12700">
            <a:solidFill>
              <a:srgbClr val="333333"/>
            </a:solidFill>
            <a:prstDash val="solid"/>
          </a:ln>
        </p:spPr>
      </p:sp>
      <p:pic>
        <p:nvPicPr>
          <p:cNvPr id="1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269480" y="1920240"/>
            <a:ext cx="502920" cy="502920"/>
          </a:xfrm>
          <a:prstGeom prst="rect">
            <a:avLst/>
          </a:prstGeom>
        </p:spPr>
      </p:pic>
      <p:sp>
        <p:nvSpPr>
          <p:cNvPr id="13" name="Text 10"/>
          <p:cNvSpPr/>
          <p:nvPr/>
        </p:nvSpPr>
        <p:spPr>
          <a:xfrm>
            <a:off x="7955280" y="1828800"/>
            <a:ext cx="34747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150K</a:t>
            </a:r>
            <a:endParaRPr lang="en-US" sz="3600" dirty="0"/>
          </a:p>
        </p:txBody>
      </p:sp>
      <p:sp>
        <p:nvSpPr>
          <p:cNvPr id="14" name="Text 11"/>
          <p:cNvSpPr/>
          <p:nvPr/>
        </p:nvSpPr>
        <p:spPr>
          <a:xfrm>
            <a:off x="7955280" y="2468880"/>
            <a:ext cx="3474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label applications per year</a:t>
            </a:r>
            <a:endParaRPr lang="en-US" sz="1200" dirty="0"/>
          </a:p>
        </p:txBody>
      </p:sp>
      <p:sp>
        <p:nvSpPr>
          <p:cNvPr id="15" name="Shape 12"/>
          <p:cNvSpPr/>
          <p:nvPr/>
        </p:nvSpPr>
        <p:spPr>
          <a:xfrm>
            <a:off x="7040880" y="3200400"/>
            <a:ext cx="4572000" cy="1325880"/>
          </a:xfrm>
          <a:prstGeom prst="rect">
            <a:avLst/>
          </a:prstGeom>
          <a:solidFill>
            <a:srgbClr val="FFFFFF"/>
          </a:solidFill>
          <a:ln w="12700">
            <a:solidFill>
              <a:srgbClr val="CADCFC"/>
            </a:solidFill>
            <a:prstDash val="solid"/>
          </a:ln>
          <a:effectLst>
            <a:outerShdw sx="100000" sy="100000" kx="0" ky="0" algn="bl" rotWithShape="0" blurRad="101600" dist="25400" dir="8100000">
              <a:srgbClr val="000000">
                <a:alpha val="6000"/>
              </a:srgbClr>
            </a:outerShdw>
          </a:effectLst>
        </p:spPr>
      </p:sp>
      <p:sp>
        <p:nvSpPr>
          <p:cNvPr id="16" name="Shape 13"/>
          <p:cNvSpPr/>
          <p:nvPr/>
        </p:nvSpPr>
        <p:spPr>
          <a:xfrm>
            <a:off x="7040880" y="3200400"/>
            <a:ext cx="73152" cy="1325880"/>
          </a:xfrm>
          <a:prstGeom prst="rect">
            <a:avLst/>
          </a:prstGeom>
          <a:solidFill>
            <a:srgbClr val="1E2761"/>
          </a:solidFill>
          <a:ln w="12700">
            <a:solidFill>
              <a:srgbClr val="333333"/>
            </a:solidFill>
            <a:prstDash val="solid"/>
          </a:ln>
        </p:spPr>
      </p:sp>
      <p:pic>
        <p:nvPicPr>
          <p:cNvPr id="17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69480" y="3429000"/>
            <a:ext cx="502920" cy="502920"/>
          </a:xfrm>
          <a:prstGeom prst="rect">
            <a:avLst/>
          </a:prstGeom>
        </p:spPr>
      </p:pic>
      <p:sp>
        <p:nvSpPr>
          <p:cNvPr id="18" name="Text 14"/>
          <p:cNvSpPr/>
          <p:nvPr/>
        </p:nvSpPr>
        <p:spPr>
          <a:xfrm>
            <a:off x="7955280" y="3337560"/>
            <a:ext cx="34747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47</a:t>
            </a:r>
            <a:endParaRPr lang="en-US" sz="3600" dirty="0"/>
          </a:p>
        </p:txBody>
      </p:sp>
      <p:sp>
        <p:nvSpPr>
          <p:cNvPr id="19" name="Text 15"/>
          <p:cNvSpPr/>
          <p:nvPr/>
        </p:nvSpPr>
        <p:spPr>
          <a:xfrm>
            <a:off x="7955280" y="3977640"/>
            <a:ext cx="3474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agents reviewing them today</a:t>
            </a:r>
            <a:endParaRPr lang="en-US" sz="1200" dirty="0"/>
          </a:p>
        </p:txBody>
      </p:sp>
      <p:sp>
        <p:nvSpPr>
          <p:cNvPr id="20" name="Shape 16"/>
          <p:cNvSpPr/>
          <p:nvPr/>
        </p:nvSpPr>
        <p:spPr>
          <a:xfrm>
            <a:off x="7040880" y="4709160"/>
            <a:ext cx="4572000" cy="1325880"/>
          </a:xfrm>
          <a:prstGeom prst="rect">
            <a:avLst/>
          </a:prstGeom>
          <a:solidFill>
            <a:srgbClr val="FFFFFF"/>
          </a:solidFill>
          <a:ln w="12700">
            <a:solidFill>
              <a:srgbClr val="CADCFC"/>
            </a:solidFill>
            <a:prstDash val="solid"/>
          </a:ln>
          <a:effectLst>
            <a:outerShdw sx="100000" sy="100000" kx="0" ky="0" algn="bl" rotWithShape="0" blurRad="101600" dist="25400" dir="8100000">
              <a:srgbClr val="000000">
                <a:alpha val="6000"/>
              </a:srgbClr>
            </a:outerShdw>
          </a:effectLst>
        </p:spPr>
      </p:sp>
      <p:sp>
        <p:nvSpPr>
          <p:cNvPr id="21" name="Shape 17"/>
          <p:cNvSpPr/>
          <p:nvPr/>
        </p:nvSpPr>
        <p:spPr>
          <a:xfrm>
            <a:off x="7040880" y="4709160"/>
            <a:ext cx="73152" cy="1325880"/>
          </a:xfrm>
          <a:prstGeom prst="rect">
            <a:avLst/>
          </a:prstGeom>
          <a:solidFill>
            <a:srgbClr val="1E2761"/>
          </a:solidFill>
          <a:ln w="12700">
            <a:solidFill>
              <a:srgbClr val="333333"/>
            </a:solidFill>
            <a:prstDash val="solid"/>
          </a:ln>
        </p:spPr>
      </p:sp>
      <p:pic>
        <p:nvPicPr>
          <p:cNvPr id="2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269480" y="4937760"/>
            <a:ext cx="502920" cy="502920"/>
          </a:xfrm>
          <a:prstGeom prst="rect">
            <a:avLst/>
          </a:prstGeom>
        </p:spPr>
      </p:pic>
      <p:sp>
        <p:nvSpPr>
          <p:cNvPr id="23" name="Text 18"/>
          <p:cNvSpPr/>
          <p:nvPr/>
        </p:nvSpPr>
        <p:spPr>
          <a:xfrm>
            <a:off x="7955280" y="4846320"/>
            <a:ext cx="34747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5–10 min</a:t>
            </a:r>
            <a:endParaRPr lang="en-US" sz="3600" dirty="0"/>
          </a:p>
        </p:txBody>
      </p:sp>
      <p:sp>
        <p:nvSpPr>
          <p:cNvPr id="24" name="Text 19"/>
          <p:cNvSpPr/>
          <p:nvPr/>
        </p:nvSpPr>
        <p:spPr>
          <a:xfrm>
            <a:off x="7955280" y="5486400"/>
            <a:ext cx="3474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 simple review, current state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7F9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E276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02920" y="411480"/>
            <a:ext cx="11247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600" kern="0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2 · THE APPROACH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502920" y="685800"/>
            <a:ext cx="112471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AI reads. Rules decide. Humans own the call.</a:t>
            </a:r>
            <a:endParaRPr lang="en-US" sz="3200" dirty="0"/>
          </a:p>
        </p:txBody>
      </p:sp>
      <p:sp>
        <p:nvSpPr>
          <p:cNvPr id="5" name="Text 3"/>
          <p:cNvSpPr/>
          <p:nvPr/>
        </p:nvSpPr>
        <p:spPr>
          <a:xfrm>
            <a:off x="502920" y="644652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TTB Label Verification  ·  Take-Home Implementation Overview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10972800" y="644652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/ 12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11480" y="1737360"/>
            <a:ext cx="3657600" cy="4297680"/>
          </a:xfrm>
          <a:prstGeom prst="rect">
            <a:avLst/>
          </a:prstGeom>
          <a:solidFill>
            <a:srgbClr val="FFFFFF"/>
          </a:solidFill>
          <a:ln w="12700">
            <a:solidFill>
              <a:srgbClr val="CADCFC"/>
            </a:solidFill>
            <a:prstDash val="solid"/>
          </a:ln>
          <a:effectLst>
            <a:outerShdw sx="100000" sy="100000" kx="0" ky="0" algn="bl" rotWithShape="0" blurRad="127000" dist="25400" dir="8100000">
              <a:srgbClr val="000000">
                <a:alpha val="6000"/>
              </a:srgbClr>
            </a:outerShdw>
          </a:effectLst>
        </p:spPr>
      </p:sp>
      <p:sp>
        <p:nvSpPr>
          <p:cNvPr id="8" name="Shape 6"/>
          <p:cNvSpPr/>
          <p:nvPr/>
        </p:nvSpPr>
        <p:spPr>
          <a:xfrm>
            <a:off x="411480" y="1737360"/>
            <a:ext cx="3657600" cy="109728"/>
          </a:xfrm>
          <a:prstGeom prst="rect">
            <a:avLst/>
          </a:prstGeom>
          <a:solidFill>
            <a:srgbClr val="1E2761"/>
          </a:solidFill>
          <a:ln w="12700">
            <a:solidFill>
              <a:srgbClr val="333333"/>
            </a:solidFill>
            <a:prstDash val="solid"/>
          </a:ln>
        </p:spPr>
      </p:sp>
      <p:pic>
        <p:nvPicPr>
          <p:cNvPr id="9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77240" y="2148840"/>
            <a:ext cx="640080" cy="640080"/>
          </a:xfrm>
          <a:prstGeom prst="rect">
            <a:avLst/>
          </a:prstGeom>
        </p:spPr>
      </p:pic>
      <p:sp>
        <p:nvSpPr>
          <p:cNvPr id="10" name="Text 7"/>
          <p:cNvSpPr/>
          <p:nvPr/>
        </p:nvSpPr>
        <p:spPr>
          <a:xfrm>
            <a:off x="2788920" y="2057400"/>
            <a:ext cx="9144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5600" b="1" dirty="0">
                <a:solidFill>
                  <a:srgbClr val="CADCF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01</a:t>
            </a:r>
            <a:endParaRPr lang="en-US" sz="5600" dirty="0"/>
          </a:p>
        </p:txBody>
      </p:sp>
      <p:sp>
        <p:nvSpPr>
          <p:cNvPr id="11" name="Text 8"/>
          <p:cNvSpPr/>
          <p:nvPr/>
        </p:nvSpPr>
        <p:spPr>
          <a:xfrm>
            <a:off x="777240" y="3063240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Extraction</a:t>
            </a:r>
            <a:endParaRPr lang="en-US" sz="2400" dirty="0"/>
          </a:p>
        </p:txBody>
      </p:sp>
      <p:sp>
        <p:nvSpPr>
          <p:cNvPr id="12" name="Text 9"/>
          <p:cNvSpPr/>
          <p:nvPr/>
        </p:nvSpPr>
        <p:spPr>
          <a:xfrm>
            <a:off x="777240" y="3520440"/>
            <a:ext cx="2926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400" kern="0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Vision-language model</a:t>
            </a:r>
            <a:endParaRPr lang="en-US" sz="1100" dirty="0"/>
          </a:p>
        </p:txBody>
      </p:sp>
      <p:sp>
        <p:nvSpPr>
          <p:cNvPr id="13" name="Text 10"/>
          <p:cNvSpPr/>
          <p:nvPr/>
        </p:nvSpPr>
        <p:spPr>
          <a:xfrm>
            <a:off x="777240" y="3931920"/>
            <a:ext cx="292608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Open-weights Qwen2.5-VL-7B (Apache 2.0), fine-tuned on TTB-stratified data. Reads what's printed; reports observations + per-field confidence. Never decides compliance.</a:t>
            </a:r>
            <a:endParaRPr lang="en-US" sz="1200" dirty="0"/>
          </a:p>
        </p:txBody>
      </p:sp>
      <p:sp>
        <p:nvSpPr>
          <p:cNvPr id="14" name="Shape 11"/>
          <p:cNvSpPr/>
          <p:nvPr/>
        </p:nvSpPr>
        <p:spPr>
          <a:xfrm>
            <a:off x="4251960" y="1737360"/>
            <a:ext cx="3657600" cy="4297680"/>
          </a:xfrm>
          <a:prstGeom prst="rect">
            <a:avLst/>
          </a:prstGeom>
          <a:solidFill>
            <a:srgbClr val="FFFFFF"/>
          </a:solidFill>
          <a:ln w="12700">
            <a:solidFill>
              <a:srgbClr val="CADCFC"/>
            </a:solidFill>
            <a:prstDash val="solid"/>
          </a:ln>
          <a:effectLst>
            <a:outerShdw sx="100000" sy="100000" kx="0" ky="0" algn="bl" rotWithShape="0" blurRad="127000" dist="25400" dir="8100000">
              <a:srgbClr val="000000">
                <a:alpha val="6000"/>
              </a:srgbClr>
            </a:outerShdw>
          </a:effectLst>
        </p:spPr>
      </p:sp>
      <p:sp>
        <p:nvSpPr>
          <p:cNvPr id="15" name="Shape 12"/>
          <p:cNvSpPr/>
          <p:nvPr/>
        </p:nvSpPr>
        <p:spPr>
          <a:xfrm>
            <a:off x="4251960" y="1737360"/>
            <a:ext cx="3657600" cy="109728"/>
          </a:xfrm>
          <a:prstGeom prst="rect">
            <a:avLst/>
          </a:prstGeom>
          <a:solidFill>
            <a:srgbClr val="1E2761"/>
          </a:solidFill>
          <a:ln w="12700">
            <a:solidFill>
              <a:srgbClr val="333333"/>
            </a:solidFill>
            <a:prstDash val="solid"/>
          </a:ln>
        </p:spPr>
      </p:sp>
      <p:pic>
        <p:nvPicPr>
          <p:cNvPr id="16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17720" y="2148840"/>
            <a:ext cx="640080" cy="640080"/>
          </a:xfrm>
          <a:prstGeom prst="rect">
            <a:avLst/>
          </a:prstGeom>
        </p:spPr>
      </p:pic>
      <p:sp>
        <p:nvSpPr>
          <p:cNvPr id="17" name="Text 13"/>
          <p:cNvSpPr/>
          <p:nvPr/>
        </p:nvSpPr>
        <p:spPr>
          <a:xfrm>
            <a:off x="6629400" y="2057400"/>
            <a:ext cx="9144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5600" b="1" dirty="0">
                <a:solidFill>
                  <a:srgbClr val="CADCF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02</a:t>
            </a:r>
            <a:endParaRPr lang="en-US" sz="5600" dirty="0"/>
          </a:p>
        </p:txBody>
      </p:sp>
      <p:sp>
        <p:nvSpPr>
          <p:cNvPr id="18" name="Text 14"/>
          <p:cNvSpPr/>
          <p:nvPr/>
        </p:nvSpPr>
        <p:spPr>
          <a:xfrm>
            <a:off x="4617720" y="3063240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Verdict</a:t>
            </a:r>
            <a:endParaRPr lang="en-US" sz="2400" dirty="0"/>
          </a:p>
        </p:txBody>
      </p:sp>
      <p:sp>
        <p:nvSpPr>
          <p:cNvPr id="19" name="Text 15"/>
          <p:cNvSpPr/>
          <p:nvPr/>
        </p:nvSpPr>
        <p:spPr>
          <a:xfrm>
            <a:off x="4617720" y="3520440"/>
            <a:ext cx="2926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400" kern="0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Deterministic 27 CFR engine</a:t>
            </a:r>
            <a:endParaRPr lang="en-US" sz="1100" dirty="0"/>
          </a:p>
        </p:txBody>
      </p:sp>
      <p:sp>
        <p:nvSpPr>
          <p:cNvPr id="20" name="Text 16"/>
          <p:cNvSpPr/>
          <p:nvPr/>
        </p:nvSpPr>
        <p:spPr>
          <a:xfrm>
            <a:off x="4617720" y="3931920"/>
            <a:ext cx="292608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Hand-coded Python rules engine cites the regulation behind every match / likely / flag decision. 118 unit tests. Auditable, reproducible, model-independent.</a:t>
            </a:r>
            <a:endParaRPr lang="en-US" sz="1200" dirty="0"/>
          </a:p>
        </p:txBody>
      </p:sp>
      <p:sp>
        <p:nvSpPr>
          <p:cNvPr id="21" name="Shape 17"/>
          <p:cNvSpPr/>
          <p:nvPr/>
        </p:nvSpPr>
        <p:spPr>
          <a:xfrm>
            <a:off x="8092440" y="1737360"/>
            <a:ext cx="3657600" cy="4297680"/>
          </a:xfrm>
          <a:prstGeom prst="rect">
            <a:avLst/>
          </a:prstGeom>
          <a:solidFill>
            <a:srgbClr val="FFFFFF"/>
          </a:solidFill>
          <a:ln w="12700">
            <a:solidFill>
              <a:srgbClr val="CADCFC"/>
            </a:solidFill>
            <a:prstDash val="solid"/>
          </a:ln>
          <a:effectLst>
            <a:outerShdw sx="100000" sy="100000" kx="0" ky="0" algn="bl" rotWithShape="0" blurRad="127000" dist="25400" dir="8100000">
              <a:srgbClr val="000000">
                <a:alpha val="6000"/>
              </a:srgbClr>
            </a:outerShdw>
          </a:effectLst>
        </p:spPr>
      </p:sp>
      <p:sp>
        <p:nvSpPr>
          <p:cNvPr id="22" name="Shape 18"/>
          <p:cNvSpPr/>
          <p:nvPr/>
        </p:nvSpPr>
        <p:spPr>
          <a:xfrm>
            <a:off x="8092440" y="1737360"/>
            <a:ext cx="3657600" cy="109728"/>
          </a:xfrm>
          <a:prstGeom prst="rect">
            <a:avLst/>
          </a:prstGeom>
          <a:solidFill>
            <a:srgbClr val="1E2761"/>
          </a:solidFill>
          <a:ln w="12700">
            <a:solidFill>
              <a:srgbClr val="333333"/>
            </a:solidFill>
            <a:prstDash val="solid"/>
          </a:ln>
        </p:spPr>
      </p:sp>
      <p:pic>
        <p:nvPicPr>
          <p:cNvPr id="23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458200" y="2148840"/>
            <a:ext cx="640080" cy="640080"/>
          </a:xfrm>
          <a:prstGeom prst="rect">
            <a:avLst/>
          </a:prstGeom>
        </p:spPr>
      </p:pic>
      <p:sp>
        <p:nvSpPr>
          <p:cNvPr id="24" name="Text 19"/>
          <p:cNvSpPr/>
          <p:nvPr/>
        </p:nvSpPr>
        <p:spPr>
          <a:xfrm>
            <a:off x="10469880" y="2057400"/>
            <a:ext cx="9144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5600" b="1" dirty="0">
                <a:solidFill>
                  <a:srgbClr val="CADCF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03</a:t>
            </a:r>
            <a:endParaRPr lang="en-US" sz="5600" dirty="0"/>
          </a:p>
        </p:txBody>
      </p:sp>
      <p:sp>
        <p:nvSpPr>
          <p:cNvPr id="25" name="Text 20"/>
          <p:cNvSpPr/>
          <p:nvPr/>
        </p:nvSpPr>
        <p:spPr>
          <a:xfrm>
            <a:off x="8458200" y="3063240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Decision</a:t>
            </a:r>
            <a:endParaRPr lang="en-US" sz="2400" dirty="0"/>
          </a:p>
        </p:txBody>
      </p:sp>
      <p:sp>
        <p:nvSpPr>
          <p:cNvPr id="26" name="Text 21"/>
          <p:cNvSpPr/>
          <p:nvPr/>
        </p:nvSpPr>
        <p:spPr>
          <a:xfrm>
            <a:off x="8458200" y="3520440"/>
            <a:ext cx="2926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400" kern="0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Human-in-the-loop</a:t>
            </a:r>
            <a:endParaRPr lang="en-US" sz="1100" dirty="0"/>
          </a:p>
        </p:txBody>
      </p:sp>
      <p:sp>
        <p:nvSpPr>
          <p:cNvPr id="27" name="Text 22"/>
          <p:cNvSpPr/>
          <p:nvPr/>
        </p:nvSpPr>
        <p:spPr>
          <a:xfrm>
            <a:off x="8458200" y="3931920"/>
            <a:ext cx="292608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 confirms or overrides every result. Three-state output (match / likely / flag) gives them confidence signal without forcing a hard call. Engine routes conservatively.</a:t>
            </a:r>
            <a:endParaRPr lang="en-US" sz="1200" dirty="0"/>
          </a:p>
        </p:txBody>
      </p:sp>
      <p:sp>
        <p:nvSpPr>
          <p:cNvPr id="28" name="Text 23"/>
          <p:cNvSpPr/>
          <p:nvPr/>
        </p:nvSpPr>
        <p:spPr>
          <a:xfrm>
            <a:off x="502920" y="6172200"/>
            <a:ext cx="11247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i="1" dirty="0">
                <a:solidFill>
                  <a:srgbClr val="6B728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rules engine is the durable value — swap the model anytime, the legal logic doesn't change.</a:t>
            </a:r>
            <a:endParaRPr lang="en-US" sz="13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7F9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E276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02920" y="411480"/>
            <a:ext cx="11247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600" kern="0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3 · ARCHITECTURE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502920" y="685800"/>
            <a:ext cx="112471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Browser → backend → swappable extractor → rules engine</a:t>
            </a:r>
            <a:endParaRPr lang="en-US" sz="3200" dirty="0"/>
          </a:p>
        </p:txBody>
      </p:sp>
      <p:sp>
        <p:nvSpPr>
          <p:cNvPr id="5" name="Text 3"/>
          <p:cNvSpPr/>
          <p:nvPr/>
        </p:nvSpPr>
        <p:spPr>
          <a:xfrm>
            <a:off x="502920" y="644652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TTB Label Verification  ·  Take-Home Implementation Overview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10972800" y="644652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/ 12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228600" y="2011680"/>
            <a:ext cx="2011680" cy="1554480"/>
          </a:xfrm>
          <a:prstGeom prst="rect">
            <a:avLst/>
          </a:prstGeom>
          <a:solidFill>
            <a:srgbClr val="FFFFFF"/>
          </a:solidFill>
          <a:ln w="12700">
            <a:solidFill>
              <a:srgbClr val="CADCFC"/>
            </a:solidFill>
            <a:prstDash val="solid"/>
          </a:ln>
          <a:effectLst>
            <a:outerShdw sx="100000" sy="100000" kx="0" ky="0" algn="bl" rotWithShape="0" blurRad="76200" dist="25400" dir="8100000">
              <a:srgbClr val="000000">
                <a:alpha val="6000"/>
              </a:srgbClr>
            </a:outerShdw>
          </a:effectLst>
        </p:spPr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60120" y="2194560"/>
            <a:ext cx="548640" cy="548640"/>
          </a:xfrm>
          <a:prstGeom prst="rect">
            <a:avLst/>
          </a:prstGeom>
        </p:spPr>
      </p:pic>
      <p:sp>
        <p:nvSpPr>
          <p:cNvPr id="9" name="Text 6"/>
          <p:cNvSpPr/>
          <p:nvPr/>
        </p:nvSpPr>
        <p:spPr>
          <a:xfrm>
            <a:off x="228600" y="2788920"/>
            <a:ext cx="2011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Browser</a:t>
            </a:r>
            <a:endParaRPr lang="en-US" sz="1600" dirty="0"/>
          </a:p>
        </p:txBody>
      </p:sp>
      <p:sp>
        <p:nvSpPr>
          <p:cNvPr id="10" name="Text 7"/>
          <p:cNvSpPr/>
          <p:nvPr/>
        </p:nvSpPr>
        <p:spPr>
          <a:xfrm>
            <a:off x="320040" y="3154680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React + Vite</a:t>
            </a:r>
            <a:endParaRPr lang="en-US" sz="1000" dirty="0"/>
          </a:p>
        </p:txBody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86000" y="2651760"/>
            <a:ext cx="320040" cy="320040"/>
          </a:xfrm>
          <a:prstGeom prst="rect">
            <a:avLst/>
          </a:prstGeom>
        </p:spPr>
      </p:pic>
      <p:sp>
        <p:nvSpPr>
          <p:cNvPr id="12" name="Shape 8"/>
          <p:cNvSpPr/>
          <p:nvPr/>
        </p:nvSpPr>
        <p:spPr>
          <a:xfrm>
            <a:off x="2651760" y="2011680"/>
            <a:ext cx="2011680" cy="1554480"/>
          </a:xfrm>
          <a:prstGeom prst="rect">
            <a:avLst/>
          </a:prstGeom>
          <a:solidFill>
            <a:srgbClr val="FFFFFF"/>
          </a:solidFill>
          <a:ln w="12700">
            <a:solidFill>
              <a:srgbClr val="CADCFC"/>
            </a:solidFill>
            <a:prstDash val="solid"/>
          </a:ln>
          <a:effectLst>
            <a:outerShdw sx="100000" sy="100000" kx="0" ky="0" algn="bl" rotWithShape="0" blurRad="76200" dist="25400" dir="8100000">
              <a:srgbClr val="000000">
                <a:alpha val="6000"/>
              </a:srgbClr>
            </a:outerShdw>
          </a:effectLst>
        </p:spPr>
      </p:sp>
      <p:pic>
        <p:nvPicPr>
          <p:cNvPr id="13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383280" y="2194560"/>
            <a:ext cx="548640" cy="548640"/>
          </a:xfrm>
          <a:prstGeom prst="rect">
            <a:avLst/>
          </a:prstGeom>
        </p:spPr>
      </p:pic>
      <p:sp>
        <p:nvSpPr>
          <p:cNvPr id="14" name="Text 9"/>
          <p:cNvSpPr/>
          <p:nvPr/>
        </p:nvSpPr>
        <p:spPr>
          <a:xfrm>
            <a:off x="2651760" y="2788920"/>
            <a:ext cx="2011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Backend</a:t>
            </a:r>
            <a:endParaRPr lang="en-US" sz="1600" dirty="0"/>
          </a:p>
        </p:txBody>
      </p:sp>
      <p:sp>
        <p:nvSpPr>
          <p:cNvPr id="15" name="Text 10"/>
          <p:cNvSpPr/>
          <p:nvPr/>
        </p:nvSpPr>
        <p:spPr>
          <a:xfrm>
            <a:off x="2743200" y="3154680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FastAPI + Pydantic</a:t>
            </a:r>
            <a:endParaRPr lang="en-US" sz="1000" dirty="0"/>
          </a:p>
        </p:txBody>
      </p:sp>
      <p:pic>
        <p:nvPicPr>
          <p:cNvPr id="16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709160" y="2651760"/>
            <a:ext cx="320040" cy="320040"/>
          </a:xfrm>
          <a:prstGeom prst="rect">
            <a:avLst/>
          </a:prstGeom>
        </p:spPr>
      </p:pic>
      <p:sp>
        <p:nvSpPr>
          <p:cNvPr id="17" name="Shape 11"/>
          <p:cNvSpPr/>
          <p:nvPr/>
        </p:nvSpPr>
        <p:spPr>
          <a:xfrm>
            <a:off x="5074920" y="2011680"/>
            <a:ext cx="2011680" cy="1554480"/>
          </a:xfrm>
          <a:prstGeom prst="rect">
            <a:avLst/>
          </a:prstGeom>
          <a:solidFill>
            <a:srgbClr val="FFFFFF"/>
          </a:solidFill>
          <a:ln w="12700">
            <a:solidFill>
              <a:srgbClr val="CADCFC"/>
            </a:solidFill>
            <a:prstDash val="solid"/>
          </a:ln>
          <a:effectLst>
            <a:outerShdw sx="100000" sy="100000" kx="0" ky="0" algn="bl" rotWithShape="0" blurRad="76200" dist="25400" dir="8100000">
              <a:srgbClr val="000000">
                <a:alpha val="6000"/>
              </a:srgbClr>
            </a:outerShdw>
          </a:effectLst>
        </p:spPr>
      </p:sp>
      <p:pic>
        <p:nvPicPr>
          <p:cNvPr id="18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806440" y="2194560"/>
            <a:ext cx="548640" cy="548640"/>
          </a:xfrm>
          <a:prstGeom prst="rect">
            <a:avLst/>
          </a:prstGeom>
        </p:spPr>
      </p:pic>
      <p:sp>
        <p:nvSpPr>
          <p:cNvPr id="19" name="Text 12"/>
          <p:cNvSpPr/>
          <p:nvPr/>
        </p:nvSpPr>
        <p:spPr>
          <a:xfrm>
            <a:off x="5074920" y="2788920"/>
            <a:ext cx="2011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Extractor</a:t>
            </a:r>
            <a:endParaRPr lang="en-US" sz="1600" dirty="0"/>
          </a:p>
        </p:txBody>
      </p:sp>
      <p:sp>
        <p:nvSpPr>
          <p:cNvPr id="20" name="Text 13"/>
          <p:cNvSpPr/>
          <p:nvPr/>
        </p:nvSpPr>
        <p:spPr>
          <a:xfrm>
            <a:off x="5166360" y="3154680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 swappable adapters</a:t>
            </a:r>
            <a:endParaRPr lang="en-US" sz="1000" dirty="0"/>
          </a:p>
        </p:txBody>
      </p:sp>
      <p:pic>
        <p:nvPicPr>
          <p:cNvPr id="21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132320" y="2651760"/>
            <a:ext cx="320040" cy="320040"/>
          </a:xfrm>
          <a:prstGeom prst="rect">
            <a:avLst/>
          </a:prstGeom>
        </p:spPr>
      </p:pic>
      <p:sp>
        <p:nvSpPr>
          <p:cNvPr id="22" name="Shape 14"/>
          <p:cNvSpPr/>
          <p:nvPr/>
        </p:nvSpPr>
        <p:spPr>
          <a:xfrm>
            <a:off x="7498080" y="2011680"/>
            <a:ext cx="2011680" cy="1554480"/>
          </a:xfrm>
          <a:prstGeom prst="rect">
            <a:avLst/>
          </a:prstGeom>
          <a:solidFill>
            <a:srgbClr val="FFFFFF"/>
          </a:solidFill>
          <a:ln w="12700">
            <a:solidFill>
              <a:srgbClr val="CADCFC"/>
            </a:solidFill>
            <a:prstDash val="solid"/>
          </a:ln>
          <a:effectLst>
            <a:outerShdw sx="100000" sy="100000" kx="0" ky="0" algn="bl" rotWithShape="0" blurRad="76200" dist="25400" dir="8100000">
              <a:srgbClr val="000000">
                <a:alpha val="6000"/>
              </a:srgbClr>
            </a:outerShdw>
          </a:effectLst>
        </p:spPr>
      </p:sp>
      <p:pic>
        <p:nvPicPr>
          <p:cNvPr id="23" name="Image 6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229600" y="2194560"/>
            <a:ext cx="548640" cy="548640"/>
          </a:xfrm>
          <a:prstGeom prst="rect">
            <a:avLst/>
          </a:prstGeom>
        </p:spPr>
      </p:pic>
      <p:sp>
        <p:nvSpPr>
          <p:cNvPr id="24" name="Text 15"/>
          <p:cNvSpPr/>
          <p:nvPr/>
        </p:nvSpPr>
        <p:spPr>
          <a:xfrm>
            <a:off x="7498080" y="2788920"/>
            <a:ext cx="2011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Rules Engine</a:t>
            </a:r>
            <a:endParaRPr lang="en-US" sz="1600" dirty="0"/>
          </a:p>
        </p:txBody>
      </p:sp>
      <p:sp>
        <p:nvSpPr>
          <p:cNvPr id="25" name="Text 16"/>
          <p:cNvSpPr/>
          <p:nvPr/>
        </p:nvSpPr>
        <p:spPr>
          <a:xfrm>
            <a:off x="7589520" y="3154680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Pure Python · 27 CFR</a:t>
            </a:r>
            <a:endParaRPr lang="en-US" sz="1000" dirty="0"/>
          </a:p>
        </p:txBody>
      </p:sp>
      <p:pic>
        <p:nvPicPr>
          <p:cNvPr id="26" name="Image 7" descr="preencoded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9555480" y="2651760"/>
            <a:ext cx="320040" cy="320040"/>
          </a:xfrm>
          <a:prstGeom prst="rect">
            <a:avLst/>
          </a:prstGeom>
        </p:spPr>
      </p:pic>
      <p:sp>
        <p:nvSpPr>
          <p:cNvPr id="27" name="Shape 17"/>
          <p:cNvSpPr/>
          <p:nvPr/>
        </p:nvSpPr>
        <p:spPr>
          <a:xfrm>
            <a:off x="9921240" y="2011680"/>
            <a:ext cx="2011680" cy="1554480"/>
          </a:xfrm>
          <a:prstGeom prst="rect">
            <a:avLst/>
          </a:prstGeom>
          <a:solidFill>
            <a:srgbClr val="FFFFFF"/>
          </a:solidFill>
          <a:ln w="12700">
            <a:solidFill>
              <a:srgbClr val="CADCFC"/>
            </a:solidFill>
            <a:prstDash val="solid"/>
          </a:ln>
          <a:effectLst>
            <a:outerShdw sx="100000" sy="100000" kx="0" ky="0" algn="bl" rotWithShape="0" blurRad="76200" dist="25400" dir="8100000">
              <a:srgbClr val="000000">
                <a:alpha val="6000"/>
              </a:srgbClr>
            </a:outerShdw>
          </a:effectLst>
        </p:spPr>
      </p:sp>
      <p:pic>
        <p:nvPicPr>
          <p:cNvPr id="28" name="Image 8" descr="preencoded.png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0652760" y="2194560"/>
            <a:ext cx="548640" cy="548640"/>
          </a:xfrm>
          <a:prstGeom prst="rect">
            <a:avLst/>
          </a:prstGeom>
        </p:spPr>
      </p:pic>
      <p:sp>
        <p:nvSpPr>
          <p:cNvPr id="29" name="Text 18"/>
          <p:cNvSpPr/>
          <p:nvPr/>
        </p:nvSpPr>
        <p:spPr>
          <a:xfrm>
            <a:off x="9921240" y="2788920"/>
            <a:ext cx="2011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Verdict</a:t>
            </a:r>
            <a:endParaRPr lang="en-US" sz="1600" dirty="0"/>
          </a:p>
        </p:txBody>
      </p:sp>
      <p:sp>
        <p:nvSpPr>
          <p:cNvPr id="30" name="Text 19"/>
          <p:cNvSpPr/>
          <p:nvPr/>
        </p:nvSpPr>
        <p:spPr>
          <a:xfrm>
            <a:off x="10012680" y="3154680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match / likely / flag</a:t>
            </a:r>
            <a:endParaRPr lang="en-US" sz="1000" dirty="0"/>
          </a:p>
        </p:txBody>
      </p:sp>
      <p:sp>
        <p:nvSpPr>
          <p:cNvPr id="31" name="Text 20"/>
          <p:cNvSpPr/>
          <p:nvPr/>
        </p:nvSpPr>
        <p:spPr>
          <a:xfrm>
            <a:off x="502920" y="4023360"/>
            <a:ext cx="11247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Inference modes — pick at runtime via INFERENCE_MODE</a:t>
            </a:r>
            <a:endParaRPr lang="en-US" sz="1200" dirty="0"/>
          </a:p>
        </p:txBody>
      </p:sp>
      <p:sp>
        <p:nvSpPr>
          <p:cNvPr id="32" name="Shape 21"/>
          <p:cNvSpPr/>
          <p:nvPr/>
        </p:nvSpPr>
        <p:spPr>
          <a:xfrm>
            <a:off x="502920" y="4434840"/>
            <a:ext cx="3657600" cy="640080"/>
          </a:xfrm>
          <a:prstGeom prst="rect">
            <a:avLst/>
          </a:prstGeom>
          <a:solidFill>
            <a:srgbClr val="CADCFC">
              <a:alpha val="40000"/>
            </a:srgbClr>
          </a:solidFill>
          <a:ln w="12700">
            <a:solidFill>
              <a:srgbClr val="CADCFC"/>
            </a:solidFill>
            <a:prstDash val="solid"/>
          </a:ln>
        </p:spPr>
      </p:sp>
      <p:sp>
        <p:nvSpPr>
          <p:cNvPr id="33" name="Shape 22"/>
          <p:cNvSpPr/>
          <p:nvPr/>
        </p:nvSpPr>
        <p:spPr>
          <a:xfrm>
            <a:off x="502920" y="4434840"/>
            <a:ext cx="73152" cy="640080"/>
          </a:xfrm>
          <a:prstGeom prst="rect">
            <a:avLst/>
          </a:prstGeom>
          <a:solidFill>
            <a:srgbClr val="02809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4" name="Text 23"/>
          <p:cNvSpPr/>
          <p:nvPr/>
        </p:nvSpPr>
        <p:spPr>
          <a:xfrm>
            <a:off x="685800" y="4489704"/>
            <a:ext cx="1097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276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mock</a:t>
            </a:r>
            <a:endParaRPr lang="en-US" sz="1300" dirty="0"/>
          </a:p>
        </p:txBody>
      </p:sp>
      <p:sp>
        <p:nvSpPr>
          <p:cNvPr id="35" name="Text 24"/>
          <p:cNvSpPr/>
          <p:nvPr/>
        </p:nvSpPr>
        <p:spPr>
          <a:xfrm>
            <a:off x="1783080" y="4489704"/>
            <a:ext cx="2286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deterministic fixtures · CI</a:t>
            </a:r>
            <a:endParaRPr lang="en-US" sz="1100" dirty="0"/>
          </a:p>
        </p:txBody>
      </p:sp>
      <p:sp>
        <p:nvSpPr>
          <p:cNvPr id="36" name="Shape 25"/>
          <p:cNvSpPr/>
          <p:nvPr/>
        </p:nvSpPr>
        <p:spPr>
          <a:xfrm>
            <a:off x="4343400" y="4434840"/>
            <a:ext cx="3657600" cy="640080"/>
          </a:xfrm>
          <a:prstGeom prst="rect">
            <a:avLst/>
          </a:prstGeom>
          <a:solidFill>
            <a:srgbClr val="CADCFC">
              <a:alpha val="40000"/>
            </a:srgbClr>
          </a:solidFill>
          <a:ln w="12700">
            <a:solidFill>
              <a:srgbClr val="CADCFC"/>
            </a:solidFill>
            <a:prstDash val="solid"/>
          </a:ln>
        </p:spPr>
      </p:sp>
      <p:sp>
        <p:nvSpPr>
          <p:cNvPr id="37" name="Shape 26"/>
          <p:cNvSpPr/>
          <p:nvPr/>
        </p:nvSpPr>
        <p:spPr>
          <a:xfrm>
            <a:off x="4343400" y="4434840"/>
            <a:ext cx="73152" cy="640080"/>
          </a:xfrm>
          <a:prstGeom prst="rect">
            <a:avLst/>
          </a:prstGeom>
          <a:solidFill>
            <a:srgbClr val="02809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8" name="Text 27"/>
          <p:cNvSpPr/>
          <p:nvPr/>
        </p:nvSpPr>
        <p:spPr>
          <a:xfrm>
            <a:off x="4526280" y="4489704"/>
            <a:ext cx="1097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276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cloud</a:t>
            </a:r>
            <a:endParaRPr lang="en-US" sz="1300" dirty="0"/>
          </a:p>
        </p:txBody>
      </p:sp>
      <p:sp>
        <p:nvSpPr>
          <p:cNvPr id="39" name="Text 28"/>
          <p:cNvSpPr/>
          <p:nvPr/>
        </p:nvSpPr>
        <p:spPr>
          <a:xfrm>
            <a:off x="5623560" y="4489704"/>
            <a:ext cx="2286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Anthropic / OpenAI / Google APIs</a:t>
            </a:r>
            <a:endParaRPr lang="en-US" sz="1100" dirty="0"/>
          </a:p>
        </p:txBody>
      </p:sp>
      <p:sp>
        <p:nvSpPr>
          <p:cNvPr id="40" name="Shape 29"/>
          <p:cNvSpPr/>
          <p:nvPr/>
        </p:nvSpPr>
        <p:spPr>
          <a:xfrm>
            <a:off x="8183880" y="4434840"/>
            <a:ext cx="3657600" cy="640080"/>
          </a:xfrm>
          <a:prstGeom prst="rect">
            <a:avLst/>
          </a:prstGeom>
          <a:solidFill>
            <a:srgbClr val="CADCFC">
              <a:alpha val="40000"/>
            </a:srgbClr>
          </a:solidFill>
          <a:ln w="12700">
            <a:solidFill>
              <a:srgbClr val="CADCFC"/>
            </a:solidFill>
            <a:prstDash val="solid"/>
          </a:ln>
        </p:spPr>
      </p:sp>
      <p:sp>
        <p:nvSpPr>
          <p:cNvPr id="41" name="Shape 30"/>
          <p:cNvSpPr/>
          <p:nvPr/>
        </p:nvSpPr>
        <p:spPr>
          <a:xfrm>
            <a:off x="8183880" y="4434840"/>
            <a:ext cx="73152" cy="640080"/>
          </a:xfrm>
          <a:prstGeom prst="rect">
            <a:avLst/>
          </a:prstGeom>
          <a:solidFill>
            <a:srgbClr val="02809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42" name="Text 31"/>
          <p:cNvSpPr/>
          <p:nvPr/>
        </p:nvSpPr>
        <p:spPr>
          <a:xfrm>
            <a:off x="8366760" y="4489704"/>
            <a:ext cx="1097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276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claude-code</a:t>
            </a:r>
            <a:endParaRPr lang="en-US" sz="1300" dirty="0"/>
          </a:p>
        </p:txBody>
      </p:sp>
      <p:sp>
        <p:nvSpPr>
          <p:cNvPr id="43" name="Text 32"/>
          <p:cNvSpPr/>
          <p:nvPr/>
        </p:nvSpPr>
        <p:spPr>
          <a:xfrm>
            <a:off x="9464040" y="4489704"/>
            <a:ext cx="2286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routes via Claude Code CLI</a:t>
            </a:r>
            <a:endParaRPr lang="en-US" sz="1100" dirty="0"/>
          </a:p>
        </p:txBody>
      </p:sp>
      <p:sp>
        <p:nvSpPr>
          <p:cNvPr id="44" name="Shape 33"/>
          <p:cNvSpPr/>
          <p:nvPr/>
        </p:nvSpPr>
        <p:spPr>
          <a:xfrm>
            <a:off x="502920" y="5212080"/>
            <a:ext cx="3657600" cy="640080"/>
          </a:xfrm>
          <a:prstGeom prst="rect">
            <a:avLst/>
          </a:prstGeom>
          <a:solidFill>
            <a:srgbClr val="CADCFC">
              <a:alpha val="40000"/>
            </a:srgbClr>
          </a:solidFill>
          <a:ln w="12700">
            <a:solidFill>
              <a:srgbClr val="CADCFC"/>
            </a:solidFill>
            <a:prstDash val="solid"/>
          </a:ln>
        </p:spPr>
      </p:sp>
      <p:sp>
        <p:nvSpPr>
          <p:cNvPr id="45" name="Shape 34"/>
          <p:cNvSpPr/>
          <p:nvPr/>
        </p:nvSpPr>
        <p:spPr>
          <a:xfrm>
            <a:off x="502920" y="5212080"/>
            <a:ext cx="73152" cy="640080"/>
          </a:xfrm>
          <a:prstGeom prst="rect">
            <a:avLst/>
          </a:prstGeom>
          <a:solidFill>
            <a:srgbClr val="02809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46" name="Text 35"/>
          <p:cNvSpPr/>
          <p:nvPr/>
        </p:nvSpPr>
        <p:spPr>
          <a:xfrm>
            <a:off x="685800" y="5266944"/>
            <a:ext cx="1097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276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onprem</a:t>
            </a:r>
            <a:endParaRPr lang="en-US" sz="1300" dirty="0"/>
          </a:p>
        </p:txBody>
      </p:sp>
      <p:sp>
        <p:nvSpPr>
          <p:cNvPr id="47" name="Text 36"/>
          <p:cNvSpPr/>
          <p:nvPr/>
        </p:nvSpPr>
        <p:spPr>
          <a:xfrm>
            <a:off x="1783080" y="5266944"/>
            <a:ext cx="2286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Tesseract + Phi-3.5-vision (Ollama)</a:t>
            </a:r>
            <a:endParaRPr lang="en-US" sz="1100" dirty="0"/>
          </a:p>
        </p:txBody>
      </p:sp>
      <p:sp>
        <p:nvSpPr>
          <p:cNvPr id="48" name="Shape 37"/>
          <p:cNvSpPr/>
          <p:nvPr/>
        </p:nvSpPr>
        <p:spPr>
          <a:xfrm>
            <a:off x="4343400" y="5212080"/>
            <a:ext cx="3657600" cy="640080"/>
          </a:xfrm>
          <a:prstGeom prst="rect">
            <a:avLst/>
          </a:prstGeom>
          <a:solidFill>
            <a:srgbClr val="CADCFC">
              <a:alpha val="40000"/>
            </a:srgbClr>
          </a:solidFill>
          <a:ln w="12700">
            <a:solidFill>
              <a:srgbClr val="CADCFC"/>
            </a:solidFill>
            <a:prstDash val="solid"/>
          </a:ln>
        </p:spPr>
      </p:sp>
      <p:sp>
        <p:nvSpPr>
          <p:cNvPr id="49" name="Shape 38"/>
          <p:cNvSpPr/>
          <p:nvPr/>
        </p:nvSpPr>
        <p:spPr>
          <a:xfrm>
            <a:off x="4343400" y="5212080"/>
            <a:ext cx="73152" cy="640080"/>
          </a:xfrm>
          <a:prstGeom prst="rect">
            <a:avLst/>
          </a:prstGeom>
          <a:solidFill>
            <a:srgbClr val="02809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50" name="Text 39"/>
          <p:cNvSpPr/>
          <p:nvPr/>
        </p:nvSpPr>
        <p:spPr>
          <a:xfrm>
            <a:off x="4526280" y="5266944"/>
            <a:ext cx="1097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276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sft</a:t>
            </a:r>
            <a:endParaRPr lang="en-US" sz="1300" dirty="0"/>
          </a:p>
        </p:txBody>
      </p:sp>
      <p:sp>
        <p:nvSpPr>
          <p:cNvPr id="51" name="Text 40"/>
          <p:cNvSpPr/>
          <p:nvPr/>
        </p:nvSpPr>
        <p:spPr>
          <a:xfrm>
            <a:off x="5623560" y="5266944"/>
            <a:ext cx="2286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Qwen v2 LoRA loaded locally on GPU</a:t>
            </a:r>
            <a:endParaRPr lang="en-US" sz="1100" dirty="0"/>
          </a:p>
        </p:txBody>
      </p:sp>
      <p:sp>
        <p:nvSpPr>
          <p:cNvPr id="52" name="Shape 41"/>
          <p:cNvSpPr/>
          <p:nvPr/>
        </p:nvSpPr>
        <p:spPr>
          <a:xfrm>
            <a:off x="8183880" y="5212080"/>
            <a:ext cx="3657600" cy="640080"/>
          </a:xfrm>
          <a:prstGeom prst="rect">
            <a:avLst/>
          </a:prstGeom>
          <a:solidFill>
            <a:srgbClr val="CADCFC">
              <a:alpha val="40000"/>
            </a:srgbClr>
          </a:solidFill>
          <a:ln w="12700">
            <a:solidFill>
              <a:srgbClr val="CADCFC"/>
            </a:solidFill>
            <a:prstDash val="solid"/>
          </a:ln>
        </p:spPr>
      </p:sp>
      <p:sp>
        <p:nvSpPr>
          <p:cNvPr id="53" name="Shape 42"/>
          <p:cNvSpPr/>
          <p:nvPr/>
        </p:nvSpPr>
        <p:spPr>
          <a:xfrm>
            <a:off x="8183880" y="5212080"/>
            <a:ext cx="73152" cy="640080"/>
          </a:xfrm>
          <a:prstGeom prst="rect">
            <a:avLst/>
          </a:prstGeom>
          <a:solidFill>
            <a:srgbClr val="02809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54" name="Text 43"/>
          <p:cNvSpPr/>
          <p:nvPr/>
        </p:nvSpPr>
        <p:spPr>
          <a:xfrm>
            <a:off x="8366760" y="5266944"/>
            <a:ext cx="1097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276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modal</a:t>
            </a:r>
            <a:endParaRPr lang="en-US" sz="1300" dirty="0"/>
          </a:p>
        </p:txBody>
      </p:sp>
      <p:sp>
        <p:nvSpPr>
          <p:cNvPr id="55" name="Text 44"/>
          <p:cNvSpPr/>
          <p:nvPr/>
        </p:nvSpPr>
        <p:spPr>
          <a:xfrm>
            <a:off x="9464040" y="5266944"/>
            <a:ext cx="2286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Qwen v2 LoRA on Modal (HTTPS)</a:t>
            </a:r>
            <a:endParaRPr lang="en-US" sz="11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7F9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E276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02920" y="411480"/>
            <a:ext cx="11247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600" kern="0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4 · THE 7 MANDATORY CHECKS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502920" y="685800"/>
            <a:ext cx="112471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Per-field source + 27 CFR citation</a:t>
            </a:r>
            <a:endParaRPr lang="en-US" sz="3200" dirty="0"/>
          </a:p>
        </p:txBody>
      </p:sp>
      <p:sp>
        <p:nvSpPr>
          <p:cNvPr id="5" name="Text 3"/>
          <p:cNvSpPr/>
          <p:nvPr/>
        </p:nvSpPr>
        <p:spPr>
          <a:xfrm>
            <a:off x="502920" y="644652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TTB Label Verification  ·  Take-Home Implementation Overview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10972800" y="644652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/ 12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502920" y="1691640"/>
            <a:ext cx="11155680" cy="365760"/>
          </a:xfrm>
          <a:prstGeom prst="rect">
            <a:avLst/>
          </a:prstGeom>
          <a:solidFill>
            <a:srgbClr val="1E276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40080" y="1746504"/>
            <a:ext cx="3200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Field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4114800" y="1746504"/>
            <a:ext cx="3931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8229600" y="1746504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Regulation cited by the engine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502920" y="2103120"/>
            <a:ext cx="11155680" cy="475488"/>
          </a:xfrm>
          <a:prstGeom prst="rect">
            <a:avLst/>
          </a:prstGeom>
          <a:solidFill>
            <a:srgbClr val="FFFFFF"/>
          </a:solidFill>
          <a:ln w="6350">
            <a:solidFill>
              <a:srgbClr val="CADCFC"/>
            </a:solidFill>
            <a:prstDash val="solid"/>
          </a:ln>
        </p:spPr>
      </p:sp>
      <p:pic>
        <p:nvPicPr>
          <p:cNvPr id="1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2176272"/>
            <a:ext cx="329184" cy="329184"/>
          </a:xfrm>
          <a:prstGeom prst="rect">
            <a:avLst/>
          </a:prstGeom>
        </p:spPr>
      </p:pic>
      <p:sp>
        <p:nvSpPr>
          <p:cNvPr id="13" name="Text 10"/>
          <p:cNvSpPr/>
          <p:nvPr/>
        </p:nvSpPr>
        <p:spPr>
          <a:xfrm>
            <a:off x="1097280" y="2176272"/>
            <a:ext cx="3017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Brand name</a:t>
            </a:r>
            <a:endParaRPr lang="en-US" sz="1300" dirty="0"/>
          </a:p>
        </p:txBody>
      </p:sp>
      <p:sp>
        <p:nvSpPr>
          <p:cNvPr id="14" name="Text 11"/>
          <p:cNvSpPr/>
          <p:nvPr/>
        </p:nvSpPr>
        <p:spPr>
          <a:xfrm>
            <a:off x="4114800" y="2176272"/>
            <a:ext cx="40233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Qwen v2 LoRA</a:t>
            </a:r>
            <a:endParaRPr lang="en-US" sz="1200" dirty="0"/>
          </a:p>
        </p:txBody>
      </p:sp>
      <p:sp>
        <p:nvSpPr>
          <p:cNvPr id="15" name="Text 12"/>
          <p:cNvSpPr/>
          <p:nvPr/>
        </p:nvSpPr>
        <p:spPr>
          <a:xfrm>
            <a:off x="8229600" y="2176272"/>
            <a:ext cx="33832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27 CFR 4.32 / 5.63 / 7.63</a:t>
            </a:r>
            <a:endParaRPr lang="en-US" sz="1100" dirty="0"/>
          </a:p>
        </p:txBody>
      </p:sp>
      <p:sp>
        <p:nvSpPr>
          <p:cNvPr id="16" name="Shape 13"/>
          <p:cNvSpPr/>
          <p:nvPr/>
        </p:nvSpPr>
        <p:spPr>
          <a:xfrm>
            <a:off x="502920" y="2606040"/>
            <a:ext cx="11155680" cy="475488"/>
          </a:xfrm>
          <a:prstGeom prst="rect">
            <a:avLst/>
          </a:prstGeom>
          <a:solidFill>
            <a:srgbClr val="F7F9FC"/>
          </a:solidFill>
          <a:ln w="6350">
            <a:solidFill>
              <a:srgbClr val="CADCFC"/>
            </a:solidFill>
            <a:prstDash val="solid"/>
          </a:ln>
        </p:spPr>
      </p:sp>
      <p:pic>
        <p:nvPicPr>
          <p:cNvPr id="17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2679192"/>
            <a:ext cx="329184" cy="329184"/>
          </a:xfrm>
          <a:prstGeom prst="rect">
            <a:avLst/>
          </a:prstGeom>
        </p:spPr>
      </p:pic>
      <p:sp>
        <p:nvSpPr>
          <p:cNvPr id="18" name="Text 14"/>
          <p:cNvSpPr/>
          <p:nvPr/>
        </p:nvSpPr>
        <p:spPr>
          <a:xfrm>
            <a:off x="1097280" y="2679192"/>
            <a:ext cx="3017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Class &amp; type</a:t>
            </a:r>
            <a:endParaRPr lang="en-US" sz="1300" dirty="0"/>
          </a:p>
        </p:txBody>
      </p:sp>
      <p:sp>
        <p:nvSpPr>
          <p:cNvPr id="19" name="Text 15"/>
          <p:cNvSpPr/>
          <p:nvPr/>
        </p:nvSpPr>
        <p:spPr>
          <a:xfrm>
            <a:off x="4114800" y="2679192"/>
            <a:ext cx="40233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Qwen v2 LoRA</a:t>
            </a:r>
            <a:endParaRPr lang="en-US" sz="1200" dirty="0"/>
          </a:p>
        </p:txBody>
      </p:sp>
      <p:sp>
        <p:nvSpPr>
          <p:cNvPr id="20" name="Text 16"/>
          <p:cNvSpPr/>
          <p:nvPr/>
        </p:nvSpPr>
        <p:spPr>
          <a:xfrm>
            <a:off x="8229600" y="2679192"/>
            <a:ext cx="33832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27 CFR 4.32 / 5.63 / 7.63</a:t>
            </a:r>
            <a:endParaRPr lang="en-US" sz="1100" dirty="0"/>
          </a:p>
        </p:txBody>
      </p:sp>
      <p:sp>
        <p:nvSpPr>
          <p:cNvPr id="21" name="Shape 17"/>
          <p:cNvSpPr/>
          <p:nvPr/>
        </p:nvSpPr>
        <p:spPr>
          <a:xfrm>
            <a:off x="502920" y="3108960"/>
            <a:ext cx="11155680" cy="475488"/>
          </a:xfrm>
          <a:prstGeom prst="rect">
            <a:avLst/>
          </a:prstGeom>
          <a:solidFill>
            <a:srgbClr val="FFFFFF"/>
          </a:solidFill>
          <a:ln w="6350">
            <a:solidFill>
              <a:srgbClr val="CADCFC"/>
            </a:solidFill>
            <a:prstDash val="solid"/>
          </a:ln>
        </p:spPr>
      </p:sp>
      <p:pic>
        <p:nvPicPr>
          <p:cNvPr id="2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080" y="3182112"/>
            <a:ext cx="329184" cy="329184"/>
          </a:xfrm>
          <a:prstGeom prst="rect">
            <a:avLst/>
          </a:prstGeom>
        </p:spPr>
      </p:pic>
      <p:sp>
        <p:nvSpPr>
          <p:cNvPr id="23" name="Text 18"/>
          <p:cNvSpPr/>
          <p:nvPr/>
        </p:nvSpPr>
        <p:spPr>
          <a:xfrm>
            <a:off x="1097280" y="3182112"/>
            <a:ext cx="3017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Bottler name &amp; address</a:t>
            </a:r>
            <a:endParaRPr lang="en-US" sz="1300" dirty="0"/>
          </a:p>
        </p:txBody>
      </p:sp>
      <p:sp>
        <p:nvSpPr>
          <p:cNvPr id="24" name="Text 19"/>
          <p:cNvSpPr/>
          <p:nvPr/>
        </p:nvSpPr>
        <p:spPr>
          <a:xfrm>
            <a:off x="4114800" y="3182112"/>
            <a:ext cx="40233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Qwen v2 LoRA</a:t>
            </a:r>
            <a:endParaRPr lang="en-US" sz="1200" dirty="0"/>
          </a:p>
        </p:txBody>
      </p:sp>
      <p:sp>
        <p:nvSpPr>
          <p:cNvPr id="25" name="Text 20"/>
          <p:cNvSpPr/>
          <p:nvPr/>
        </p:nvSpPr>
        <p:spPr>
          <a:xfrm>
            <a:off x="8229600" y="3182112"/>
            <a:ext cx="33832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27 CFR 4.35 / 5.65 / 7.65</a:t>
            </a:r>
            <a:endParaRPr lang="en-US" sz="1100" dirty="0"/>
          </a:p>
        </p:txBody>
      </p:sp>
      <p:sp>
        <p:nvSpPr>
          <p:cNvPr id="26" name="Shape 21"/>
          <p:cNvSpPr/>
          <p:nvPr/>
        </p:nvSpPr>
        <p:spPr>
          <a:xfrm>
            <a:off x="502920" y="3611880"/>
            <a:ext cx="11155680" cy="475488"/>
          </a:xfrm>
          <a:prstGeom prst="rect">
            <a:avLst/>
          </a:prstGeom>
          <a:solidFill>
            <a:srgbClr val="F7F9FC"/>
          </a:solidFill>
          <a:ln w="6350">
            <a:solidFill>
              <a:srgbClr val="CADCFC"/>
            </a:solidFill>
            <a:prstDash val="solid"/>
          </a:ln>
        </p:spPr>
      </p:sp>
      <p:pic>
        <p:nvPicPr>
          <p:cNvPr id="27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0080" y="3685032"/>
            <a:ext cx="329184" cy="329184"/>
          </a:xfrm>
          <a:prstGeom prst="rect">
            <a:avLst/>
          </a:prstGeom>
        </p:spPr>
      </p:pic>
      <p:sp>
        <p:nvSpPr>
          <p:cNvPr id="28" name="Text 22"/>
          <p:cNvSpPr/>
          <p:nvPr/>
        </p:nvSpPr>
        <p:spPr>
          <a:xfrm>
            <a:off x="1097280" y="3685032"/>
            <a:ext cx="3017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Country of origin</a:t>
            </a:r>
            <a:endParaRPr lang="en-US" sz="1300" dirty="0"/>
          </a:p>
        </p:txBody>
      </p:sp>
      <p:sp>
        <p:nvSpPr>
          <p:cNvPr id="29" name="Text 23"/>
          <p:cNvSpPr/>
          <p:nvPr/>
        </p:nvSpPr>
        <p:spPr>
          <a:xfrm>
            <a:off x="4114800" y="3685032"/>
            <a:ext cx="40233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Qwen v2 LoRA</a:t>
            </a:r>
            <a:endParaRPr lang="en-US" sz="1200" dirty="0"/>
          </a:p>
        </p:txBody>
      </p:sp>
      <p:sp>
        <p:nvSpPr>
          <p:cNvPr id="30" name="Text 24"/>
          <p:cNvSpPr/>
          <p:nvPr/>
        </p:nvSpPr>
        <p:spPr>
          <a:xfrm>
            <a:off x="8229600" y="3685032"/>
            <a:ext cx="33832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27 CFR 4.35 / 5.66 / 7.65</a:t>
            </a:r>
            <a:endParaRPr lang="en-US" sz="1100" dirty="0"/>
          </a:p>
        </p:txBody>
      </p:sp>
      <p:sp>
        <p:nvSpPr>
          <p:cNvPr id="31" name="Shape 25"/>
          <p:cNvSpPr/>
          <p:nvPr/>
        </p:nvSpPr>
        <p:spPr>
          <a:xfrm>
            <a:off x="502920" y="4114800"/>
            <a:ext cx="11155680" cy="475488"/>
          </a:xfrm>
          <a:prstGeom prst="rect">
            <a:avLst/>
          </a:prstGeom>
          <a:solidFill>
            <a:srgbClr val="FFFFFF"/>
          </a:solidFill>
          <a:ln w="6350">
            <a:solidFill>
              <a:srgbClr val="CADCFC"/>
            </a:solidFill>
            <a:prstDash val="solid"/>
          </a:ln>
        </p:spPr>
      </p:sp>
      <p:pic>
        <p:nvPicPr>
          <p:cNvPr id="32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40080" y="4187952"/>
            <a:ext cx="329184" cy="329184"/>
          </a:xfrm>
          <a:prstGeom prst="rect">
            <a:avLst/>
          </a:prstGeom>
        </p:spPr>
      </p:pic>
      <p:sp>
        <p:nvSpPr>
          <p:cNvPr id="33" name="Text 26"/>
          <p:cNvSpPr/>
          <p:nvPr/>
        </p:nvSpPr>
        <p:spPr>
          <a:xfrm>
            <a:off x="1097280" y="4187952"/>
            <a:ext cx="3017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Alcohol content</a:t>
            </a:r>
            <a:endParaRPr lang="en-US" sz="1300" dirty="0"/>
          </a:p>
        </p:txBody>
      </p:sp>
      <p:sp>
        <p:nvSpPr>
          <p:cNvPr id="34" name="Text 27"/>
          <p:cNvSpPr/>
          <p:nvPr/>
        </p:nvSpPr>
        <p:spPr>
          <a:xfrm>
            <a:off x="4114800" y="4187952"/>
            <a:ext cx="40233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Anthropic Haiku</a:t>
            </a:r>
            <a:endParaRPr lang="en-US" sz="1200" dirty="0"/>
          </a:p>
        </p:txBody>
      </p:sp>
      <p:sp>
        <p:nvSpPr>
          <p:cNvPr id="35" name="Text 28"/>
          <p:cNvSpPr/>
          <p:nvPr/>
        </p:nvSpPr>
        <p:spPr>
          <a:xfrm>
            <a:off x="8229600" y="4187952"/>
            <a:ext cx="33832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27 CFR 4.36 / 5.65 / 7.71</a:t>
            </a:r>
            <a:endParaRPr lang="en-US" sz="1100" dirty="0"/>
          </a:p>
        </p:txBody>
      </p:sp>
      <p:sp>
        <p:nvSpPr>
          <p:cNvPr id="36" name="Shape 29"/>
          <p:cNvSpPr/>
          <p:nvPr/>
        </p:nvSpPr>
        <p:spPr>
          <a:xfrm>
            <a:off x="502920" y="4617720"/>
            <a:ext cx="11155680" cy="475488"/>
          </a:xfrm>
          <a:prstGeom prst="rect">
            <a:avLst/>
          </a:prstGeom>
          <a:solidFill>
            <a:srgbClr val="F7F9FC"/>
          </a:solidFill>
          <a:ln w="6350">
            <a:solidFill>
              <a:srgbClr val="CADCFC"/>
            </a:solidFill>
            <a:prstDash val="solid"/>
          </a:ln>
        </p:spPr>
      </p:sp>
      <p:pic>
        <p:nvPicPr>
          <p:cNvPr id="37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40080" y="4690872"/>
            <a:ext cx="329184" cy="329184"/>
          </a:xfrm>
          <a:prstGeom prst="rect">
            <a:avLst/>
          </a:prstGeom>
        </p:spPr>
      </p:pic>
      <p:sp>
        <p:nvSpPr>
          <p:cNvPr id="38" name="Text 30"/>
          <p:cNvSpPr/>
          <p:nvPr/>
        </p:nvSpPr>
        <p:spPr>
          <a:xfrm>
            <a:off x="1097280" y="4690872"/>
            <a:ext cx="3017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Net contents</a:t>
            </a:r>
            <a:endParaRPr lang="en-US" sz="1300" dirty="0"/>
          </a:p>
        </p:txBody>
      </p:sp>
      <p:sp>
        <p:nvSpPr>
          <p:cNvPr id="39" name="Text 31"/>
          <p:cNvSpPr/>
          <p:nvPr/>
        </p:nvSpPr>
        <p:spPr>
          <a:xfrm>
            <a:off x="4114800" y="4690872"/>
            <a:ext cx="40233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Anthropic Haiku</a:t>
            </a:r>
            <a:endParaRPr lang="en-US" sz="1200" dirty="0"/>
          </a:p>
        </p:txBody>
      </p:sp>
      <p:sp>
        <p:nvSpPr>
          <p:cNvPr id="40" name="Text 32"/>
          <p:cNvSpPr/>
          <p:nvPr/>
        </p:nvSpPr>
        <p:spPr>
          <a:xfrm>
            <a:off x="8229600" y="4690872"/>
            <a:ext cx="33832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27 CFR 4.37 / 5.47 / 7.27</a:t>
            </a:r>
            <a:endParaRPr lang="en-US" sz="1100" dirty="0"/>
          </a:p>
        </p:txBody>
      </p:sp>
      <p:sp>
        <p:nvSpPr>
          <p:cNvPr id="41" name="Shape 33"/>
          <p:cNvSpPr/>
          <p:nvPr/>
        </p:nvSpPr>
        <p:spPr>
          <a:xfrm>
            <a:off x="502920" y="5120640"/>
            <a:ext cx="11155680" cy="475488"/>
          </a:xfrm>
          <a:prstGeom prst="rect">
            <a:avLst/>
          </a:prstGeom>
          <a:solidFill>
            <a:srgbClr val="FFFFFF"/>
          </a:solidFill>
          <a:ln w="6350">
            <a:solidFill>
              <a:srgbClr val="CADCFC"/>
            </a:solidFill>
            <a:prstDash val="solid"/>
          </a:ln>
        </p:spPr>
      </p:sp>
      <p:pic>
        <p:nvPicPr>
          <p:cNvPr id="42" name="Image 6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40080" y="5193792"/>
            <a:ext cx="329184" cy="329184"/>
          </a:xfrm>
          <a:prstGeom prst="rect">
            <a:avLst/>
          </a:prstGeom>
        </p:spPr>
      </p:pic>
      <p:sp>
        <p:nvSpPr>
          <p:cNvPr id="43" name="Text 34"/>
          <p:cNvSpPr/>
          <p:nvPr/>
        </p:nvSpPr>
        <p:spPr>
          <a:xfrm>
            <a:off x="1097280" y="5193792"/>
            <a:ext cx="3017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Government Warning</a:t>
            </a:r>
            <a:endParaRPr lang="en-US" sz="1300" dirty="0"/>
          </a:p>
        </p:txBody>
      </p:sp>
      <p:sp>
        <p:nvSpPr>
          <p:cNvPr id="44" name="Text 35"/>
          <p:cNvSpPr/>
          <p:nvPr/>
        </p:nvSpPr>
        <p:spPr>
          <a:xfrm>
            <a:off x="4114800" y="5193792"/>
            <a:ext cx="40233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Tesseract OCR + Haiku verbatim</a:t>
            </a:r>
            <a:endParaRPr lang="en-US" sz="1200" dirty="0"/>
          </a:p>
        </p:txBody>
      </p:sp>
      <p:sp>
        <p:nvSpPr>
          <p:cNvPr id="45" name="Text 36"/>
          <p:cNvSpPr/>
          <p:nvPr/>
        </p:nvSpPr>
        <p:spPr>
          <a:xfrm>
            <a:off x="8229600" y="5193792"/>
            <a:ext cx="33832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27 CFR 16.21 / 16.22</a:t>
            </a:r>
            <a:endParaRPr lang="en-US" sz="1100" dirty="0"/>
          </a:p>
        </p:txBody>
      </p:sp>
      <p:sp>
        <p:nvSpPr>
          <p:cNvPr id="46" name="Text 37"/>
          <p:cNvSpPr/>
          <p:nvPr/>
        </p:nvSpPr>
        <p:spPr>
          <a:xfrm>
            <a:off x="502920" y="5989320"/>
            <a:ext cx="11155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B728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Hybrid by design: the 4 fields we have agency-clean training data for run on-prem (Qwen v2 LoRA). The 3 we don't yet have labeled data for run on Haiku — documented as a known external dependency that disappears when agency data lands for those fields.</a:t>
            </a:r>
            <a:endParaRPr lang="en-U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7F9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E276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02920" y="411480"/>
            <a:ext cx="11247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600" kern="0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5 · HEADLINE RESULT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502920" y="685800"/>
            <a:ext cx="112471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Qwen v2 LoRA — 2.1× Haiku on the 4 trained fields</a:t>
            </a:r>
            <a:endParaRPr lang="en-US" sz="3200" dirty="0"/>
          </a:p>
        </p:txBody>
      </p:sp>
      <p:sp>
        <p:nvSpPr>
          <p:cNvPr id="5" name="Text 3"/>
          <p:cNvSpPr/>
          <p:nvPr/>
        </p:nvSpPr>
        <p:spPr>
          <a:xfrm>
            <a:off x="502920" y="644652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TTB Label Verification  ·  Take-Home Implementation Overview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10972800" y="644652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 / 12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502920" y="1691640"/>
            <a:ext cx="47548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0" b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78.0%</a:t>
            </a:r>
            <a:endParaRPr lang="en-US" sz="13000" dirty="0"/>
          </a:p>
        </p:txBody>
      </p:sp>
      <p:sp>
        <p:nvSpPr>
          <p:cNvPr id="8" name="Text 6"/>
          <p:cNvSpPr/>
          <p:nvPr/>
        </p:nvSpPr>
        <p:spPr>
          <a:xfrm>
            <a:off x="502920" y="3246120"/>
            <a:ext cx="4754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Qwen v2 LoRA · micro field accuracy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502920" y="3703320"/>
            <a:ext cx="4754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i="1" dirty="0">
                <a:solidFill>
                  <a:srgbClr val="6B728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vs.</a:t>
            </a:r>
            <a:endParaRPr lang="en-US" sz="1800" dirty="0"/>
          </a:p>
        </p:txBody>
      </p:sp>
      <p:sp>
        <p:nvSpPr>
          <p:cNvPr id="10" name="Text 8"/>
          <p:cNvSpPr/>
          <p:nvPr/>
        </p:nvSpPr>
        <p:spPr>
          <a:xfrm>
            <a:off x="502920" y="4160520"/>
            <a:ext cx="47548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200" b="1" dirty="0">
                <a:solidFill>
                  <a:srgbClr val="F9616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37.2%</a:t>
            </a:r>
            <a:endParaRPr lang="en-US" sz="7200" dirty="0"/>
          </a:p>
        </p:txBody>
      </p:sp>
      <p:sp>
        <p:nvSpPr>
          <p:cNvPr id="11" name="Text 9"/>
          <p:cNvSpPr/>
          <p:nvPr/>
        </p:nvSpPr>
        <p:spPr>
          <a:xfrm>
            <a:off x="502920" y="5029200"/>
            <a:ext cx="4754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Anthropic Haiku · zero-shot on the same labels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502920" y="5577840"/>
            <a:ext cx="4754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200-row TTB-stratified holdout · spirits / wine / beer-malt</a:t>
            </a:r>
            <a:endParaRPr lang="en-US" sz="1000" dirty="0"/>
          </a:p>
        </p:txBody>
      </p:sp>
      <p:graphicFrame>
        <p:nvGraphicFramePr>
          <p:cNvPr id="13" name="Chart 0" descr=""/>
          <p:cNvGraphicFramePr/>
          <p:nvPr/>
        </p:nvGraphicFramePr>
        <p:xfrm>
          <a:off x="5669280" y="1691640"/>
          <a:ext cx="6126480" cy="42062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4" name="Text 11"/>
          <p:cNvSpPr/>
          <p:nvPr/>
        </p:nvSpPr>
        <p:spPr>
          <a:xfrm>
            <a:off x="5669280" y="5989320"/>
            <a:ext cx="6126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6B728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Largest delta: +72.0pp on Class &amp; type — TTB's vocabulary ("SPANISH GRAPE BRANDY FB") is invisible to Haiku zero-shot but learned cleanly by the LoRA.</a:t>
            </a:r>
            <a:endParaRPr lang="en-US" sz="11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7F9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E276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02920" y="411480"/>
            <a:ext cx="11247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600" kern="0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6 · WHY V2 BEAT V1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502920" y="685800"/>
            <a:ext cx="112471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Better data + narrower schema → 38% → 78%</a:t>
            </a:r>
            <a:endParaRPr lang="en-US" sz="3200" dirty="0"/>
          </a:p>
        </p:txBody>
      </p:sp>
      <p:sp>
        <p:nvSpPr>
          <p:cNvPr id="5" name="Text 3"/>
          <p:cNvSpPr/>
          <p:nvPr/>
        </p:nvSpPr>
        <p:spPr>
          <a:xfrm>
            <a:off x="502920" y="644652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TTB Label Verification  ·  Take-Home Implementation Overview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10972800" y="644652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 / 12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502920" y="1737360"/>
            <a:ext cx="5440680" cy="3931920"/>
          </a:xfrm>
          <a:prstGeom prst="rect">
            <a:avLst/>
          </a:prstGeom>
          <a:solidFill>
            <a:srgbClr val="FFFFFF"/>
          </a:solidFill>
          <a:ln w="12700">
            <a:solidFill>
              <a:srgbClr val="CADCFC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502920" y="1737360"/>
            <a:ext cx="91440" cy="3931920"/>
          </a:xfrm>
          <a:prstGeom prst="rect">
            <a:avLst/>
          </a:prstGeom>
          <a:solidFill>
            <a:srgbClr val="6B728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777240" y="2011680"/>
            <a:ext cx="1828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6B728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v1</a:t>
            </a:r>
            <a:endParaRPr lang="en-US" sz="3600" dirty="0"/>
          </a:p>
        </p:txBody>
      </p:sp>
      <p:sp>
        <p:nvSpPr>
          <p:cNvPr id="10" name="Text 8"/>
          <p:cNvSpPr/>
          <p:nvPr/>
        </p:nvSpPr>
        <p:spPr>
          <a:xfrm>
            <a:off x="777240" y="260604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COLA Cloud baseline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777240" y="3063240"/>
            <a:ext cx="4937760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400"/>
              </a:spcAft>
              <a:buNone/>
            </a:pPr>
            <a:r>
              <a:rPr lang="en-US" sz="12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Training data: </a:t>
            </a:r>
            <a:pPr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COLA Cloud free sample, N = 1,377</a:t>
            </a:r>
            <a:endParaRPr lang="en-US" sz="12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endParaRPr lang="en-US" sz="12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2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Schema: </a:t>
            </a:r>
            <a:pPr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wide — 4 fields + Government Warning text + image quality</a:t>
            </a:r>
            <a:endParaRPr lang="en-US" sz="12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endParaRPr lang="en-US" sz="12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2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Epochs: </a:t>
            </a:r>
            <a:pPr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2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endParaRPr lang="en-US" sz="12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2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Result: </a:t>
            </a:r>
            <a:pPr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38.4% micro · hallucinated long warning text · 23% on Class &amp; type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6172200" y="1737360"/>
            <a:ext cx="5440680" cy="3931920"/>
          </a:xfrm>
          <a:prstGeom prst="rect">
            <a:avLst/>
          </a:prstGeom>
          <a:solidFill>
            <a:srgbClr val="FFFFFF"/>
          </a:solidFill>
          <a:ln w="19050">
            <a:solidFill>
              <a:srgbClr val="028090"/>
            </a:solidFill>
            <a:prstDash val="solid"/>
          </a:ln>
          <a:effectLst>
            <a:outerShdw sx="100000" sy="100000" kx="0" ky="0" algn="bl" rotWithShape="0" blurRad="127000" dist="25400" dir="8100000">
              <a:srgbClr val="000000">
                <a:alpha val="8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6172200" y="1737360"/>
            <a:ext cx="91440" cy="3931920"/>
          </a:xfrm>
          <a:prstGeom prst="rect">
            <a:avLst/>
          </a:prstGeom>
          <a:solidFill>
            <a:srgbClr val="02809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446520" y="2011680"/>
            <a:ext cx="1828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02809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v2</a:t>
            </a:r>
            <a:endParaRPr lang="en-US" sz="3600" dirty="0"/>
          </a:p>
        </p:txBody>
      </p:sp>
      <p:sp>
        <p:nvSpPr>
          <p:cNvPr id="15" name="Text 13"/>
          <p:cNvSpPr/>
          <p:nvPr/>
        </p:nvSpPr>
        <p:spPr>
          <a:xfrm>
            <a:off x="6446520" y="2606040"/>
            <a:ext cx="4572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TTB Registry · production target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6446520" y="3063240"/>
            <a:ext cx="4937760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400"/>
              </a:spcAft>
              <a:buNone/>
            </a:pPr>
            <a:r>
              <a:rPr lang="en-US" sz="12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Training data: </a:t>
            </a:r>
            <a:pPr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TTB Public COLA Registry, stratified scrape, N = 8,968 (6.5×)</a:t>
            </a:r>
            <a:endParaRPr lang="en-US" sz="12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endParaRPr lang="en-US" sz="12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2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Schema: </a:t>
            </a:r>
            <a:pPr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narrowed — 4 fields only · GW handled by deterministic OCR</a:t>
            </a:r>
            <a:endParaRPr lang="en-US" sz="12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endParaRPr lang="en-US" sz="12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2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Epochs: </a:t>
            </a:r>
            <a:pPr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2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endParaRPr lang="en-US" sz="12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2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Result: </a:t>
            </a:r>
            <a:pPr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78.0% micro · zero hallucination · 91.5% on Class &amp; type</a:t>
            </a:r>
            <a:endParaRPr lang="en-US" sz="1200" dirty="0"/>
          </a:p>
        </p:txBody>
      </p:sp>
      <p:pic>
        <p:nvPicPr>
          <p:cNvPr id="1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806440" y="3520440"/>
            <a:ext cx="411480" cy="411480"/>
          </a:xfrm>
          <a:prstGeom prst="rect">
            <a:avLst/>
          </a:prstGeom>
        </p:spPr>
      </p:pic>
      <p:sp>
        <p:nvSpPr>
          <p:cNvPr id="18" name="Text 15"/>
          <p:cNvSpPr/>
          <p:nvPr/>
        </p:nvSpPr>
        <p:spPr>
          <a:xfrm>
            <a:off x="502920" y="5852160"/>
            <a:ext cx="11155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two takeaways</a:t>
            </a:r>
            <a:endParaRPr lang="en-US" sz="1200" dirty="0"/>
          </a:p>
        </p:txBody>
      </p:sp>
      <p:sp>
        <p:nvSpPr>
          <p:cNvPr id="19" name="Text 16"/>
          <p:cNvSpPr/>
          <p:nvPr/>
        </p:nvSpPr>
        <p:spPr>
          <a:xfrm>
            <a:off x="502920" y="6126480"/>
            <a:ext cx="11155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i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Volume matters: </a:t>
            </a:r>
            <a:pPr indent="0" marL="0">
              <a:buNone/>
            </a:pPr>
            <a:r>
              <a:rPr lang="en-US" sz="1100" i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6.5× more data + 50% more epochs explains the bulk of the gain. </a:t>
            </a:r>
            <a:pPr indent="0" marL="0">
              <a:buNone/>
            </a:pPr>
            <a:r>
              <a:rPr lang="en-US" sz="1100" b="1" i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Schema discipline matters: </a:t>
            </a:r>
            <a:pPr indent="0" marL="0">
              <a:buNone/>
            </a:pPr>
            <a:r>
              <a:rPr lang="en-US" sz="1100" i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narrowing to fields with clean ground truth eliminated v1's warning-text hallucination — the engine handles that field deterministically instead.</a:t>
            </a:r>
            <a:endParaRPr lang="en-US" sz="11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7F9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E276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02920" y="411480"/>
            <a:ext cx="11247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600" kern="0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7 · IMPLEMENTATION TIMELINE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502920" y="685800"/>
            <a:ext cx="112471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5 days · 91 commits · 6 inference adapters</a:t>
            </a:r>
            <a:endParaRPr lang="en-US" sz="3200" dirty="0"/>
          </a:p>
        </p:txBody>
      </p:sp>
      <p:sp>
        <p:nvSpPr>
          <p:cNvPr id="5" name="Text 3"/>
          <p:cNvSpPr/>
          <p:nvPr/>
        </p:nvSpPr>
        <p:spPr>
          <a:xfrm>
            <a:off x="502920" y="644652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TTB Label Verification  ·  Take-Home Implementation Overview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10972800" y="644652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 / 12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1463040" y="1965960"/>
            <a:ext cx="45720" cy="3977640"/>
          </a:xfrm>
          <a:prstGeom prst="rect">
            <a:avLst/>
          </a:prstGeom>
          <a:solidFill>
            <a:srgbClr val="1E276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1325880" y="2011680"/>
            <a:ext cx="320040" cy="320040"/>
          </a:xfrm>
          <a:prstGeom prst="oval">
            <a:avLst/>
          </a:prstGeom>
          <a:solidFill>
            <a:srgbClr val="028090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502920" y="1828800"/>
            <a:ext cx="777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Day 1</a:t>
            </a:r>
            <a:endParaRPr lang="en-US" sz="1800" dirty="0"/>
          </a:p>
        </p:txBody>
      </p:sp>
      <p:sp>
        <p:nvSpPr>
          <p:cNvPr id="10" name="Text 8"/>
          <p:cNvSpPr/>
          <p:nvPr/>
        </p:nvSpPr>
        <p:spPr>
          <a:xfrm>
            <a:off x="502920" y="2194560"/>
            <a:ext cx="777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May 22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1874520" y="1737360"/>
            <a:ext cx="9784080" cy="731520"/>
          </a:xfrm>
          <a:prstGeom prst="rect">
            <a:avLst/>
          </a:prstGeom>
          <a:solidFill>
            <a:srgbClr val="FFFFFF"/>
          </a:solidFill>
          <a:ln w="12700">
            <a:solidFill>
              <a:srgbClr val="CADCFC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2057400" y="1783080"/>
            <a:ext cx="6858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Scaffold + rules engine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8915400" y="1783080"/>
            <a:ext cx="2606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400" kern="0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 commits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2057400" y="2103120"/>
            <a:ext cx="9418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React frontend, FastAPI backend, 27 CFR rules engine, 6 swappable extractors, 78 unit tests. Zero model training yet.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1325880" y="2880360"/>
            <a:ext cx="320040" cy="320040"/>
          </a:xfrm>
          <a:prstGeom prst="oval">
            <a:avLst/>
          </a:prstGeom>
          <a:solidFill>
            <a:srgbClr val="028090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02920" y="2697480"/>
            <a:ext cx="777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Day 2</a:t>
            </a:r>
            <a:endParaRPr lang="en-US" sz="1800" dirty="0"/>
          </a:p>
        </p:txBody>
      </p:sp>
      <p:sp>
        <p:nvSpPr>
          <p:cNvPr id="17" name="Text 15"/>
          <p:cNvSpPr/>
          <p:nvPr/>
        </p:nvSpPr>
        <p:spPr>
          <a:xfrm>
            <a:off x="502920" y="3063240"/>
            <a:ext cx="777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May 23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1874520" y="2606040"/>
            <a:ext cx="9784080" cy="731520"/>
          </a:xfrm>
          <a:prstGeom prst="rect">
            <a:avLst/>
          </a:prstGeom>
          <a:solidFill>
            <a:srgbClr val="FFFFFF"/>
          </a:solidFill>
          <a:ln w="12700">
            <a:solidFill>
              <a:srgbClr val="CADCFC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2057400" y="2651760"/>
            <a:ext cx="6858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SFT exploration</a:t>
            </a:r>
            <a:endParaRPr lang="en-US" sz="1600" dirty="0"/>
          </a:p>
        </p:txBody>
      </p:sp>
      <p:sp>
        <p:nvSpPr>
          <p:cNvPr id="20" name="Text 18"/>
          <p:cNvSpPr/>
          <p:nvPr/>
        </p:nvSpPr>
        <p:spPr>
          <a:xfrm>
            <a:off x="8915400" y="2651760"/>
            <a:ext cx="2606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400" kern="0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55 commits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2057400" y="2971800"/>
            <a:ext cx="9418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Five base models compared (Qwen, Phi, InternVL3, Kimi, Donut). Qwen2.5-VL wins. v1 trained on COLA Cloud, within 6pp of Claude.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1325880" y="3749040"/>
            <a:ext cx="320040" cy="320040"/>
          </a:xfrm>
          <a:prstGeom prst="oval">
            <a:avLst/>
          </a:prstGeom>
          <a:solidFill>
            <a:srgbClr val="028090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502920" y="3566160"/>
            <a:ext cx="777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Day 3</a:t>
            </a:r>
            <a:endParaRPr lang="en-US" sz="1800" dirty="0"/>
          </a:p>
        </p:txBody>
      </p:sp>
      <p:sp>
        <p:nvSpPr>
          <p:cNvPr id="24" name="Text 22"/>
          <p:cNvSpPr/>
          <p:nvPr/>
        </p:nvSpPr>
        <p:spPr>
          <a:xfrm>
            <a:off x="502920" y="3931920"/>
            <a:ext cx="777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May 24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1874520" y="3474720"/>
            <a:ext cx="9784080" cy="731520"/>
          </a:xfrm>
          <a:prstGeom prst="rect">
            <a:avLst/>
          </a:prstGeom>
          <a:solidFill>
            <a:srgbClr val="FFFFFF"/>
          </a:solidFill>
          <a:ln w="12700">
            <a:solidFill>
              <a:srgbClr val="CADCFC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057400" y="3520440"/>
            <a:ext cx="6858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Agency data pipeline</a:t>
            </a:r>
            <a:endParaRPr lang="en-US" sz="1600" dirty="0"/>
          </a:p>
        </p:txBody>
      </p:sp>
      <p:sp>
        <p:nvSpPr>
          <p:cNvPr id="27" name="Text 25"/>
          <p:cNvSpPr/>
          <p:nvPr/>
        </p:nvSpPr>
        <p:spPr>
          <a:xfrm>
            <a:off x="8915400" y="3520440"/>
            <a:ext cx="2606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400" kern="0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commits</a:t>
            </a:r>
            <a:endParaRPr lang="en-US" sz="1000" dirty="0"/>
          </a:p>
        </p:txBody>
      </p:sp>
      <p:sp>
        <p:nvSpPr>
          <p:cNvPr id="28" name="Text 26"/>
          <p:cNvSpPr/>
          <p:nvPr/>
        </p:nvSpPr>
        <p:spPr>
          <a:xfrm>
            <a:off x="2057400" y="3840480"/>
            <a:ext cx="9418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TTB Public COLA Registry scraper, stratified pulls (spirits / wine / beer-malt), v2 training pipeline + head-to-head harness.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1325880" y="4617720"/>
            <a:ext cx="320040" cy="320040"/>
          </a:xfrm>
          <a:prstGeom prst="oval">
            <a:avLst/>
          </a:prstGeom>
          <a:solidFill>
            <a:srgbClr val="028090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502920" y="4434840"/>
            <a:ext cx="777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Day 4</a:t>
            </a:r>
            <a:endParaRPr lang="en-US" sz="1800" dirty="0"/>
          </a:p>
        </p:txBody>
      </p:sp>
      <p:sp>
        <p:nvSpPr>
          <p:cNvPr id="31" name="Text 29"/>
          <p:cNvSpPr/>
          <p:nvPr/>
        </p:nvSpPr>
        <p:spPr>
          <a:xfrm>
            <a:off x="502920" y="4800600"/>
            <a:ext cx="777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May 25</a:t>
            </a:r>
            <a:endParaRPr lang="en-US" sz="1000" dirty="0"/>
          </a:p>
        </p:txBody>
      </p:sp>
      <p:sp>
        <p:nvSpPr>
          <p:cNvPr id="32" name="Shape 30"/>
          <p:cNvSpPr/>
          <p:nvPr/>
        </p:nvSpPr>
        <p:spPr>
          <a:xfrm>
            <a:off x="1874520" y="4343400"/>
            <a:ext cx="9784080" cy="731520"/>
          </a:xfrm>
          <a:prstGeom prst="rect">
            <a:avLst/>
          </a:prstGeom>
          <a:solidFill>
            <a:srgbClr val="FFFFFF"/>
          </a:solidFill>
          <a:ln w="12700">
            <a:solidFill>
              <a:srgbClr val="CADCFC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2057400" y="4389120"/>
            <a:ext cx="6858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v2 training on Colab</a:t>
            </a:r>
            <a:endParaRPr lang="en-US" sz="1600" dirty="0"/>
          </a:p>
        </p:txBody>
      </p:sp>
      <p:sp>
        <p:nvSpPr>
          <p:cNvPr id="34" name="Text 32"/>
          <p:cNvSpPr/>
          <p:nvPr/>
        </p:nvSpPr>
        <p:spPr>
          <a:xfrm>
            <a:off x="8915400" y="4389120"/>
            <a:ext cx="2606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400" kern="0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 commits</a:t>
            </a:r>
            <a:endParaRPr lang="en-US" sz="1000" dirty="0"/>
          </a:p>
        </p:txBody>
      </p:sp>
      <p:sp>
        <p:nvSpPr>
          <p:cNvPr id="35" name="Text 33"/>
          <p:cNvSpPr/>
          <p:nvPr/>
        </p:nvSpPr>
        <p:spPr>
          <a:xfrm>
            <a:off x="2057400" y="4709160"/>
            <a:ext cx="9418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Qwen v2 trained on N=8,968 stratified labels, BF16, Colab A100. Leakage guards, session-resilient checkpointing, 200-row eval.</a:t>
            </a:r>
            <a:endParaRPr lang="en-US" sz="1100" dirty="0"/>
          </a:p>
        </p:txBody>
      </p:sp>
      <p:sp>
        <p:nvSpPr>
          <p:cNvPr id="36" name="Shape 34"/>
          <p:cNvSpPr/>
          <p:nvPr/>
        </p:nvSpPr>
        <p:spPr>
          <a:xfrm>
            <a:off x="1325880" y="5486400"/>
            <a:ext cx="320040" cy="320040"/>
          </a:xfrm>
          <a:prstGeom prst="oval">
            <a:avLst/>
          </a:prstGeom>
          <a:solidFill>
            <a:srgbClr val="028090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502920" y="5303520"/>
            <a:ext cx="777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Day 5</a:t>
            </a:r>
            <a:endParaRPr lang="en-US" sz="1800" dirty="0"/>
          </a:p>
        </p:txBody>
      </p:sp>
      <p:sp>
        <p:nvSpPr>
          <p:cNvPr id="38" name="Text 36"/>
          <p:cNvSpPr/>
          <p:nvPr/>
        </p:nvSpPr>
        <p:spPr>
          <a:xfrm>
            <a:off x="502920" y="5669280"/>
            <a:ext cx="777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May 26</a:t>
            </a:r>
            <a:endParaRPr lang="en-US" sz="1000" dirty="0"/>
          </a:p>
        </p:txBody>
      </p:sp>
      <p:sp>
        <p:nvSpPr>
          <p:cNvPr id="39" name="Shape 37"/>
          <p:cNvSpPr/>
          <p:nvPr/>
        </p:nvSpPr>
        <p:spPr>
          <a:xfrm>
            <a:off x="1874520" y="5212080"/>
            <a:ext cx="9784080" cy="731520"/>
          </a:xfrm>
          <a:prstGeom prst="rect">
            <a:avLst/>
          </a:prstGeom>
          <a:solidFill>
            <a:srgbClr val="FFFFFF"/>
          </a:solidFill>
          <a:ln w="12700">
            <a:solidFill>
              <a:srgbClr val="CADCFC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2057400" y="5257800"/>
            <a:ext cx="6858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Deploy + scorer fix + ship</a:t>
            </a:r>
            <a:endParaRPr lang="en-US" sz="1600" dirty="0"/>
          </a:p>
        </p:txBody>
      </p:sp>
      <p:sp>
        <p:nvSpPr>
          <p:cNvPr id="41" name="Text 39"/>
          <p:cNvSpPr/>
          <p:nvPr/>
        </p:nvSpPr>
        <p:spPr>
          <a:xfrm>
            <a:off x="8915400" y="5257800"/>
            <a:ext cx="2606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400" kern="0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 commits</a:t>
            </a:r>
            <a:endParaRPr lang="en-US" sz="1000" dirty="0"/>
          </a:p>
        </p:txBody>
      </p:sp>
      <p:sp>
        <p:nvSpPr>
          <p:cNvPr id="42" name="Text 40"/>
          <p:cNvSpPr/>
          <p:nvPr/>
        </p:nvSpPr>
        <p:spPr>
          <a:xfrm>
            <a:off x="2057400" y="5577840"/>
            <a:ext cx="9418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Vercel (Haiku) live, Modal (Qwen v2) validated. b817f82 scorer fix revealed 78% real accuracy. GitHub Release with weights + eval pack.</a:t>
            </a:r>
            <a:endParaRPr lang="en-US" sz="11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7F9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E276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02920" y="411480"/>
            <a:ext cx="11247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600" kern="0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8 · THREE DEPLOYMENT TOPOLOGIES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502920" y="685800"/>
            <a:ext cx="112471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Same code · privacy boundary on PII</a:t>
            </a:r>
            <a:endParaRPr lang="en-US" sz="3200" dirty="0"/>
          </a:p>
        </p:txBody>
      </p:sp>
      <p:sp>
        <p:nvSpPr>
          <p:cNvPr id="5" name="Text 3"/>
          <p:cNvSpPr/>
          <p:nvPr/>
        </p:nvSpPr>
        <p:spPr>
          <a:xfrm>
            <a:off x="502920" y="644652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TTB Label Verification  ·  Take-Home Implementation Overview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10972800" y="644652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 / 12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11480" y="1691640"/>
            <a:ext cx="3657600" cy="4663440"/>
          </a:xfrm>
          <a:prstGeom prst="rect">
            <a:avLst/>
          </a:prstGeom>
          <a:solidFill>
            <a:srgbClr val="FFFFFF"/>
          </a:solidFill>
          <a:ln w="12700">
            <a:solidFill>
              <a:srgbClr val="CADCFC"/>
            </a:solidFill>
            <a:prstDash val="solid"/>
          </a:ln>
          <a:effectLst>
            <a:outerShdw sx="100000" sy="100000" kx="0" ky="0" algn="bl" rotWithShape="0" blurRad="127000" dist="25400" dir="8100000">
              <a:srgbClr val="000000">
                <a:alpha val="6000"/>
              </a:srgbClr>
            </a:outerShdw>
          </a:effectLst>
        </p:spPr>
      </p:sp>
      <p:sp>
        <p:nvSpPr>
          <p:cNvPr id="8" name="Shape 6"/>
          <p:cNvSpPr/>
          <p:nvPr/>
        </p:nvSpPr>
        <p:spPr>
          <a:xfrm>
            <a:off x="411480" y="1691640"/>
            <a:ext cx="3657600" cy="109728"/>
          </a:xfrm>
          <a:prstGeom prst="rect">
            <a:avLst/>
          </a:prstGeom>
          <a:solidFill>
            <a:srgbClr val="02809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777240" y="1965960"/>
            <a:ext cx="8229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200" b="1" dirty="0">
                <a:solidFill>
                  <a:srgbClr val="02809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</a:t>
            </a:r>
            <a:endParaRPr lang="en-US" sz="7200" dirty="0"/>
          </a:p>
        </p:txBody>
      </p:sp>
      <p:pic>
        <p:nvPicPr>
          <p:cNvPr id="10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200400" y="2103120"/>
            <a:ext cx="502920" cy="502920"/>
          </a:xfrm>
          <a:prstGeom prst="rect">
            <a:avLst/>
          </a:prstGeom>
        </p:spPr>
      </p:pic>
      <p:sp>
        <p:nvSpPr>
          <p:cNvPr id="11" name="Shape 8"/>
          <p:cNvSpPr/>
          <p:nvPr/>
        </p:nvSpPr>
        <p:spPr>
          <a:xfrm>
            <a:off x="2514600" y="2057400"/>
            <a:ext cx="594360" cy="274320"/>
          </a:xfrm>
          <a:prstGeom prst="rect">
            <a:avLst/>
          </a:prstGeom>
          <a:solidFill>
            <a:srgbClr val="02809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2514600" y="2075688"/>
            <a:ext cx="5943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4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LIVE</a:t>
            </a:r>
            <a:endParaRPr lang="en-US" sz="900" dirty="0"/>
          </a:p>
        </p:txBody>
      </p:sp>
      <p:sp>
        <p:nvSpPr>
          <p:cNvPr id="13" name="Text 10"/>
          <p:cNvSpPr/>
          <p:nvPr/>
        </p:nvSpPr>
        <p:spPr>
          <a:xfrm>
            <a:off x="777240" y="2971800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Privacy-focused hybrid</a:t>
            </a:r>
            <a:endParaRPr lang="en-US" sz="2200" dirty="0"/>
          </a:p>
        </p:txBody>
      </p:sp>
      <p:sp>
        <p:nvSpPr>
          <p:cNvPr id="14" name="Text 11"/>
          <p:cNvSpPr/>
          <p:nvPr/>
        </p:nvSpPr>
        <p:spPr>
          <a:xfrm>
            <a:off x="777240" y="3429000"/>
            <a:ext cx="2926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Vercel + Modal Qwen v2 + Haiku — currently live</a:t>
            </a:r>
            <a:endParaRPr lang="en-US" sz="1100" dirty="0"/>
          </a:p>
        </p:txBody>
      </p:sp>
      <p:sp>
        <p:nvSpPr>
          <p:cNvPr id="15" name="Text 12"/>
          <p:cNvSpPr/>
          <p:nvPr/>
        </p:nvSpPr>
        <p:spPr>
          <a:xfrm>
            <a:off x="777240" y="3840480"/>
            <a:ext cx="292608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React on Vercel CDN. Modal Qwen v2 LoRA on a container WE control reads the 4 PII fields (brand, class, bottler, country). Anthropic Haiku reads the 27 CFR 16.21 verbatim warning text + ABV + net contents — all public-text values with no privacy classification. Label images traverse Modal (our boundary) and Haiku (public-text only).</a:t>
            </a:r>
            <a:endParaRPr lang="en-US" sz="1200" dirty="0"/>
          </a:p>
        </p:txBody>
      </p:sp>
      <p:sp>
        <p:nvSpPr>
          <p:cNvPr id="16" name="Shape 13"/>
          <p:cNvSpPr/>
          <p:nvPr/>
        </p:nvSpPr>
        <p:spPr>
          <a:xfrm>
            <a:off x="777240" y="5577840"/>
            <a:ext cx="2926080" cy="18288"/>
          </a:xfrm>
          <a:prstGeom prst="rect">
            <a:avLst/>
          </a:prstGeom>
          <a:solidFill>
            <a:srgbClr val="CADCF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777240" y="5669280"/>
            <a:ext cx="29260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300" kern="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Cost</a:t>
            </a:r>
            <a:endParaRPr lang="en-US" sz="900" dirty="0"/>
          </a:p>
        </p:txBody>
      </p:sp>
      <p:sp>
        <p:nvSpPr>
          <p:cNvPr id="18" name="Text 15"/>
          <p:cNvSpPr/>
          <p:nvPr/>
        </p:nvSpPr>
        <p:spPr>
          <a:xfrm>
            <a:off x="777240" y="5852160"/>
            <a:ext cx="29260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$0–5/mo + $1/1000 labels</a:t>
            </a:r>
            <a:endParaRPr lang="en-US" sz="1100" dirty="0"/>
          </a:p>
        </p:txBody>
      </p:sp>
      <p:sp>
        <p:nvSpPr>
          <p:cNvPr id="19" name="Text 16"/>
          <p:cNvSpPr/>
          <p:nvPr/>
        </p:nvSpPr>
        <p:spPr>
          <a:xfrm>
            <a:off x="777240" y="6062472"/>
            <a:ext cx="29260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300" kern="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Privacy</a:t>
            </a:r>
            <a:endParaRPr lang="en-US" sz="900" dirty="0"/>
          </a:p>
        </p:txBody>
      </p:sp>
      <p:sp>
        <p:nvSpPr>
          <p:cNvPr id="20" name="Text 17"/>
          <p:cNvSpPr/>
          <p:nvPr/>
        </p:nvSpPr>
        <p:spPr>
          <a:xfrm>
            <a:off x="777240" y="6245352"/>
            <a:ext cx="29260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Modal boundary on PII · Haiku for 27 CFR public text only</a:t>
            </a:r>
            <a:endParaRPr lang="en-US" sz="1100" dirty="0"/>
          </a:p>
        </p:txBody>
      </p:sp>
      <p:sp>
        <p:nvSpPr>
          <p:cNvPr id="21" name="Shape 18"/>
          <p:cNvSpPr/>
          <p:nvPr/>
        </p:nvSpPr>
        <p:spPr>
          <a:xfrm>
            <a:off x="4251960" y="1691640"/>
            <a:ext cx="3657600" cy="4663440"/>
          </a:xfrm>
          <a:prstGeom prst="rect">
            <a:avLst/>
          </a:prstGeom>
          <a:solidFill>
            <a:srgbClr val="FFFFFF"/>
          </a:solidFill>
          <a:ln w="12700">
            <a:solidFill>
              <a:srgbClr val="CADCFC"/>
            </a:solidFill>
            <a:prstDash val="solid"/>
          </a:ln>
          <a:effectLst>
            <a:outerShdw sx="100000" sy="100000" kx="0" ky="0" algn="bl" rotWithShape="0" blurRad="127000" dist="25400" dir="8100000">
              <a:srgbClr val="000000">
                <a:alpha val="6000"/>
              </a:srgbClr>
            </a:outerShdw>
          </a:effectLst>
        </p:spPr>
      </p:sp>
      <p:sp>
        <p:nvSpPr>
          <p:cNvPr id="22" name="Shape 19"/>
          <p:cNvSpPr/>
          <p:nvPr/>
        </p:nvSpPr>
        <p:spPr>
          <a:xfrm>
            <a:off x="4251960" y="1691640"/>
            <a:ext cx="3657600" cy="109728"/>
          </a:xfrm>
          <a:prstGeom prst="rect">
            <a:avLst/>
          </a:prstGeom>
          <a:solidFill>
            <a:srgbClr val="1E276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Text 20"/>
          <p:cNvSpPr/>
          <p:nvPr/>
        </p:nvSpPr>
        <p:spPr>
          <a:xfrm>
            <a:off x="4617720" y="1965960"/>
            <a:ext cx="8229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200" b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</a:t>
            </a:r>
            <a:endParaRPr lang="en-US" sz="7200" dirty="0"/>
          </a:p>
        </p:txBody>
      </p:sp>
      <p:pic>
        <p:nvPicPr>
          <p:cNvPr id="24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040880" y="2103120"/>
            <a:ext cx="502920" cy="502920"/>
          </a:xfrm>
          <a:prstGeom prst="rect">
            <a:avLst/>
          </a:prstGeom>
        </p:spPr>
      </p:pic>
      <p:sp>
        <p:nvSpPr>
          <p:cNvPr id="25" name="Text 21"/>
          <p:cNvSpPr/>
          <p:nvPr/>
        </p:nvSpPr>
        <p:spPr>
          <a:xfrm>
            <a:off x="4617720" y="2971800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Privacy-only (no commodity model)</a:t>
            </a:r>
            <a:endParaRPr lang="en-US" sz="2200" dirty="0"/>
          </a:p>
        </p:txBody>
      </p:sp>
      <p:sp>
        <p:nvSpPr>
          <p:cNvPr id="26" name="Text 22"/>
          <p:cNvSpPr/>
          <p:nvPr/>
        </p:nvSpPr>
        <p:spPr>
          <a:xfrm>
            <a:off x="4617720" y="3429000"/>
            <a:ext cx="2926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Modal Qwen v2 only · Tesseract for warning</a:t>
            </a:r>
            <a:endParaRPr lang="en-US" sz="1100" dirty="0"/>
          </a:p>
        </p:txBody>
      </p:sp>
      <p:sp>
        <p:nvSpPr>
          <p:cNvPr id="27" name="Text 23"/>
          <p:cNvSpPr/>
          <p:nvPr/>
        </p:nvSpPr>
        <p:spPr>
          <a:xfrm>
            <a:off x="4617720" y="3840480"/>
            <a:ext cx="292608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Same React + FastAPI. Modal Qwen v2 + Modal Tesseract container handle every field — Haiku is removed entirely. Government Warning verbatim falls back to Tesseract regex. Use when no third-party API is acceptable in the data path.</a:t>
            </a:r>
            <a:endParaRPr lang="en-US" sz="1200" dirty="0"/>
          </a:p>
        </p:txBody>
      </p:sp>
      <p:sp>
        <p:nvSpPr>
          <p:cNvPr id="28" name="Shape 24"/>
          <p:cNvSpPr/>
          <p:nvPr/>
        </p:nvSpPr>
        <p:spPr>
          <a:xfrm>
            <a:off x="4617720" y="5577840"/>
            <a:ext cx="2926080" cy="18288"/>
          </a:xfrm>
          <a:prstGeom prst="rect">
            <a:avLst/>
          </a:prstGeom>
          <a:solidFill>
            <a:srgbClr val="CADCF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Text 25"/>
          <p:cNvSpPr/>
          <p:nvPr/>
        </p:nvSpPr>
        <p:spPr>
          <a:xfrm>
            <a:off x="4617720" y="5669280"/>
            <a:ext cx="29260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300" kern="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Cost</a:t>
            </a:r>
            <a:endParaRPr lang="en-US" sz="900" dirty="0"/>
          </a:p>
        </p:txBody>
      </p:sp>
      <p:sp>
        <p:nvSpPr>
          <p:cNvPr id="30" name="Text 26"/>
          <p:cNvSpPr/>
          <p:nvPr/>
        </p:nvSpPr>
        <p:spPr>
          <a:xfrm>
            <a:off x="4617720" y="5852160"/>
            <a:ext cx="29260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$0/hr idle · $0.001/req active</a:t>
            </a:r>
            <a:endParaRPr lang="en-US" sz="1100" dirty="0"/>
          </a:p>
        </p:txBody>
      </p:sp>
      <p:sp>
        <p:nvSpPr>
          <p:cNvPr id="31" name="Text 27"/>
          <p:cNvSpPr/>
          <p:nvPr/>
        </p:nvSpPr>
        <p:spPr>
          <a:xfrm>
            <a:off x="4617720" y="6062472"/>
            <a:ext cx="29260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300" kern="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Privacy</a:t>
            </a:r>
            <a:endParaRPr lang="en-US" sz="900" dirty="0"/>
          </a:p>
        </p:txBody>
      </p:sp>
      <p:sp>
        <p:nvSpPr>
          <p:cNvPr id="32" name="Text 28"/>
          <p:cNvSpPr/>
          <p:nvPr/>
        </p:nvSpPr>
        <p:spPr>
          <a:xfrm>
            <a:off x="4617720" y="6245352"/>
            <a:ext cx="29260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Zero third-party API · single provider</a:t>
            </a:r>
            <a:endParaRPr lang="en-US" sz="1100" dirty="0"/>
          </a:p>
        </p:txBody>
      </p:sp>
      <p:sp>
        <p:nvSpPr>
          <p:cNvPr id="33" name="Shape 29"/>
          <p:cNvSpPr/>
          <p:nvPr/>
        </p:nvSpPr>
        <p:spPr>
          <a:xfrm>
            <a:off x="8092440" y="1691640"/>
            <a:ext cx="3657600" cy="4663440"/>
          </a:xfrm>
          <a:prstGeom prst="rect">
            <a:avLst/>
          </a:prstGeom>
          <a:solidFill>
            <a:srgbClr val="FFFFFF"/>
          </a:solidFill>
          <a:ln w="12700">
            <a:solidFill>
              <a:srgbClr val="CADCFC"/>
            </a:solidFill>
            <a:prstDash val="solid"/>
          </a:ln>
          <a:effectLst>
            <a:outerShdw sx="100000" sy="100000" kx="0" ky="0" algn="bl" rotWithShape="0" blurRad="127000" dist="25400" dir="8100000">
              <a:srgbClr val="000000">
                <a:alpha val="6000"/>
              </a:srgbClr>
            </a:outerShdw>
          </a:effectLst>
        </p:spPr>
      </p:sp>
      <p:sp>
        <p:nvSpPr>
          <p:cNvPr id="34" name="Shape 30"/>
          <p:cNvSpPr/>
          <p:nvPr/>
        </p:nvSpPr>
        <p:spPr>
          <a:xfrm>
            <a:off x="8092440" y="1691640"/>
            <a:ext cx="3657600" cy="109728"/>
          </a:xfrm>
          <a:prstGeom prst="rect">
            <a:avLst/>
          </a:prstGeom>
          <a:solidFill>
            <a:srgbClr val="1E276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5" name="Text 31"/>
          <p:cNvSpPr/>
          <p:nvPr/>
        </p:nvSpPr>
        <p:spPr>
          <a:xfrm>
            <a:off x="8458200" y="1965960"/>
            <a:ext cx="8229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200" b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</a:t>
            </a:r>
            <a:endParaRPr lang="en-US" sz="7200" dirty="0"/>
          </a:p>
        </p:txBody>
      </p:sp>
      <p:pic>
        <p:nvPicPr>
          <p:cNvPr id="3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881360" y="2103120"/>
            <a:ext cx="502920" cy="502920"/>
          </a:xfrm>
          <a:prstGeom prst="rect">
            <a:avLst/>
          </a:prstGeom>
        </p:spPr>
      </p:pic>
      <p:sp>
        <p:nvSpPr>
          <p:cNvPr id="37" name="Text 32"/>
          <p:cNvSpPr/>
          <p:nvPr/>
        </p:nvSpPr>
        <p:spPr>
          <a:xfrm>
            <a:off x="8458200" y="2971800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Agency-hosted</a:t>
            </a:r>
            <a:endParaRPr lang="en-US" sz="2200" dirty="0"/>
          </a:p>
        </p:txBody>
      </p:sp>
      <p:sp>
        <p:nvSpPr>
          <p:cNvPr id="38" name="Text 33"/>
          <p:cNvSpPr/>
          <p:nvPr/>
        </p:nvSpPr>
        <p:spPr>
          <a:xfrm>
            <a:off x="8458200" y="3429000"/>
            <a:ext cx="2926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Azure Gov / Azure ML · on-prem GPU</a:t>
            </a:r>
            <a:endParaRPr lang="en-US" sz="1100" dirty="0"/>
          </a:p>
        </p:txBody>
      </p:sp>
      <p:sp>
        <p:nvSpPr>
          <p:cNvPr id="39" name="Text 34"/>
          <p:cNvSpPr/>
          <p:nvPr/>
        </p:nvSpPr>
        <p:spPr>
          <a:xfrm>
            <a:off x="8458200" y="3840480"/>
            <a:ext cx="292608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Same Docker image inside FedRAMP boundary. INFERENCE_MODE=sft loads the LoRA on agency GPU. Zero outbound calls. Rules engine identical. Production target.</a:t>
            </a:r>
            <a:endParaRPr lang="en-US" sz="1200" dirty="0"/>
          </a:p>
        </p:txBody>
      </p:sp>
      <p:sp>
        <p:nvSpPr>
          <p:cNvPr id="40" name="Shape 35"/>
          <p:cNvSpPr/>
          <p:nvPr/>
        </p:nvSpPr>
        <p:spPr>
          <a:xfrm>
            <a:off x="8458200" y="5577840"/>
            <a:ext cx="2926080" cy="18288"/>
          </a:xfrm>
          <a:prstGeom prst="rect">
            <a:avLst/>
          </a:prstGeom>
          <a:solidFill>
            <a:srgbClr val="CADCF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41" name="Text 36"/>
          <p:cNvSpPr/>
          <p:nvPr/>
        </p:nvSpPr>
        <p:spPr>
          <a:xfrm>
            <a:off x="8458200" y="5669280"/>
            <a:ext cx="29260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300" kern="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Cost</a:t>
            </a:r>
            <a:endParaRPr lang="en-US" sz="900" dirty="0"/>
          </a:p>
        </p:txBody>
      </p:sp>
      <p:sp>
        <p:nvSpPr>
          <p:cNvPr id="42" name="Text 37"/>
          <p:cNvSpPr/>
          <p:nvPr/>
        </p:nvSpPr>
        <p:spPr>
          <a:xfrm>
            <a:off x="8458200" y="5852160"/>
            <a:ext cx="29260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Inside agency Azure spend</a:t>
            </a:r>
            <a:endParaRPr lang="en-US" sz="1100" dirty="0"/>
          </a:p>
        </p:txBody>
      </p:sp>
      <p:sp>
        <p:nvSpPr>
          <p:cNvPr id="43" name="Text 38"/>
          <p:cNvSpPr/>
          <p:nvPr/>
        </p:nvSpPr>
        <p:spPr>
          <a:xfrm>
            <a:off x="8458200" y="6062472"/>
            <a:ext cx="29260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300" kern="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Privacy</a:t>
            </a:r>
            <a:endParaRPr lang="en-US" sz="900" dirty="0"/>
          </a:p>
        </p:txBody>
      </p:sp>
      <p:sp>
        <p:nvSpPr>
          <p:cNvPr id="44" name="Text 39"/>
          <p:cNvSpPr/>
          <p:nvPr/>
        </p:nvSpPr>
        <p:spPr>
          <a:xfrm>
            <a:off x="8458200" y="6245352"/>
            <a:ext cx="29260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FedRAMP High · IL4/5</a:t>
            </a:r>
            <a:endParaRPr lang="en-US" sz="1100" dirty="0"/>
          </a:p>
        </p:txBody>
      </p:sp>
      <p:sp>
        <p:nvSpPr>
          <p:cNvPr id="45" name="Text 40"/>
          <p:cNvSpPr/>
          <p:nvPr/>
        </p:nvSpPr>
        <p:spPr>
          <a:xfrm>
            <a:off x="502920" y="6446520"/>
            <a:ext cx="11247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i="1" dirty="0">
                <a:solidFill>
                  <a:srgbClr val="6B728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Swapping topology is one env var. The verifier code never changes.</a:t>
            </a:r>
            <a:endParaRPr lang="en-US" sz="12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7F9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E276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02920" y="411480"/>
            <a:ext cx="11247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600" kern="0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9 · WHAT'S LIVE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502920" y="685800"/>
            <a:ext cx="112471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Demo URL + downloadable weights for independent validation</a:t>
            </a:r>
            <a:endParaRPr lang="en-US" sz="3200" dirty="0"/>
          </a:p>
        </p:txBody>
      </p:sp>
      <p:sp>
        <p:nvSpPr>
          <p:cNvPr id="5" name="Text 3"/>
          <p:cNvSpPr/>
          <p:nvPr/>
        </p:nvSpPr>
        <p:spPr>
          <a:xfrm>
            <a:off x="502920" y="644652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TTB Label Verification  ·  Take-Home Implementation Overview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10972800" y="644652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 / 12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502920" y="1737360"/>
            <a:ext cx="5577840" cy="4206240"/>
          </a:xfrm>
          <a:prstGeom prst="rect">
            <a:avLst/>
          </a:prstGeom>
          <a:solidFill>
            <a:srgbClr val="1E2761"/>
          </a:solidFill>
          <a:ln w="12700">
            <a:solidFill>
              <a:srgbClr val="333333"/>
            </a:solidFill>
            <a:prstDash val="solid"/>
          </a:ln>
          <a:effectLst>
            <a:outerShdw sx="100000" sy="100000" kx="0" ky="0" algn="bl" rotWithShape="0" blurRad="152400" dist="38100" dir="8100000">
              <a:srgbClr val="000000">
                <a:alpha val="15000"/>
              </a:srgbClr>
            </a:outerShdw>
          </a:effectLst>
        </p:spPr>
      </p:sp>
      <p:sp>
        <p:nvSpPr>
          <p:cNvPr id="8" name="Shape 6"/>
          <p:cNvSpPr/>
          <p:nvPr/>
        </p:nvSpPr>
        <p:spPr>
          <a:xfrm>
            <a:off x="502920" y="5833872"/>
            <a:ext cx="5577840" cy="109728"/>
          </a:xfrm>
          <a:prstGeom prst="rect">
            <a:avLst/>
          </a:prstGeom>
          <a:solidFill>
            <a:srgbClr val="02809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777240" y="205740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600" kern="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LIVE DEMO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777240" y="2377440"/>
            <a:ext cx="5029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ttb-label-verification-ebon.vercel.app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777240" y="3291840"/>
            <a:ext cx="5029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b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Mode: Modal Qwen v2 (PII fields) + Haiku (public text) hybrid</a:t>
            </a:r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/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b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Latency: ~5 s warm · ~9 s cold-start fallback to Haiku</a:t>
            </a:r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/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b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Samples: </a:t>
            </a:r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67 real TTB-approved labels (curated)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b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Checks: </a:t>
            </a:r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 7 mandatory fields + GW verbatim &amp; casing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6263640" y="1737360"/>
            <a:ext cx="5577840" cy="4206240"/>
          </a:xfrm>
          <a:prstGeom prst="rect">
            <a:avLst/>
          </a:prstGeom>
          <a:solidFill>
            <a:srgbClr val="FFFFFF"/>
          </a:solidFill>
          <a:ln w="12700">
            <a:solidFill>
              <a:srgbClr val="CADCFC"/>
            </a:solidFill>
            <a:prstDash val="solid"/>
          </a:ln>
          <a:effectLst>
            <a:outerShdw sx="100000" sy="100000" kx="0" ky="0" algn="bl" rotWithShape="0" blurRad="152400" dist="38100" dir="8100000">
              <a:srgbClr val="000000">
                <a:alpha val="8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6263640" y="5833872"/>
            <a:ext cx="5577840" cy="109728"/>
          </a:xfrm>
          <a:prstGeom prst="rect">
            <a:avLst/>
          </a:prstGeom>
          <a:solidFill>
            <a:srgbClr val="1E276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537960" y="205740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600" kern="0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GITHUB RELEASE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6537960" y="2377440"/>
            <a:ext cx="5029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v0.1.0 — Qwen v2 LoRA + Eval Pack</a:t>
            </a:r>
            <a:endParaRPr lang="en-US" sz="1800" dirty="0"/>
          </a:p>
        </p:txBody>
      </p:sp>
      <p:sp>
        <p:nvSpPr>
          <p:cNvPr id="16" name="Text 14"/>
          <p:cNvSpPr/>
          <p:nvPr/>
        </p:nvSpPr>
        <p:spPr>
          <a:xfrm>
            <a:off x="6537960" y="2834640"/>
            <a:ext cx="5029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02809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github.com/vsiwach/ttb-label-verification/releases/tag/v0.1.0</a:t>
            </a:r>
            <a:endParaRPr lang="en-US" sz="1000" dirty="0"/>
          </a:p>
        </p:txBody>
      </p:sp>
      <p:pic>
        <p:nvPicPr>
          <p:cNvPr id="1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537960" y="3291840"/>
            <a:ext cx="274320" cy="274320"/>
          </a:xfrm>
          <a:prstGeom prst="rect">
            <a:avLst/>
          </a:prstGeom>
        </p:spPr>
      </p:pic>
      <p:sp>
        <p:nvSpPr>
          <p:cNvPr id="18" name="Text 15"/>
          <p:cNvSpPr/>
          <p:nvPr/>
        </p:nvSpPr>
        <p:spPr>
          <a:xfrm>
            <a:off x="6903720" y="3291840"/>
            <a:ext cx="47548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E276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ttb_qwen_v2_adapter.zip</a:t>
            </a:r>
            <a:endParaRPr lang="en-US" sz="1100" dirty="0"/>
          </a:p>
        </p:txBody>
      </p:sp>
      <p:sp>
        <p:nvSpPr>
          <p:cNvPr id="19" name="Text 16"/>
          <p:cNvSpPr/>
          <p:nvPr/>
        </p:nvSpPr>
        <p:spPr>
          <a:xfrm>
            <a:off x="6903720" y="3584448"/>
            <a:ext cx="47548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152 MB · 3-epoch, BF16, N=8,968</a:t>
            </a:r>
            <a:endParaRPr lang="en-US" sz="1000" dirty="0"/>
          </a:p>
        </p:txBody>
      </p:sp>
      <p:pic>
        <p:nvPicPr>
          <p:cNvPr id="2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37960" y="4069080"/>
            <a:ext cx="274320" cy="274320"/>
          </a:xfrm>
          <a:prstGeom prst="rect">
            <a:avLst/>
          </a:prstGeom>
        </p:spPr>
      </p:pic>
      <p:sp>
        <p:nvSpPr>
          <p:cNvPr id="21" name="Text 17"/>
          <p:cNvSpPr/>
          <p:nvPr/>
        </p:nvSpPr>
        <p:spPr>
          <a:xfrm>
            <a:off x="6903720" y="4069080"/>
            <a:ext cx="47548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E276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ttb_qwen_v1_adapter.zip</a:t>
            </a:r>
            <a:endParaRPr lang="en-US" sz="1100" dirty="0"/>
          </a:p>
        </p:txBody>
      </p:sp>
      <p:sp>
        <p:nvSpPr>
          <p:cNvPr id="22" name="Text 18"/>
          <p:cNvSpPr/>
          <p:nvPr/>
        </p:nvSpPr>
        <p:spPr>
          <a:xfrm>
            <a:off x="6903720" y="4361688"/>
            <a:ext cx="47548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146 MB · COLA Cloud baseline (ablation)</a:t>
            </a:r>
            <a:endParaRPr lang="en-US" sz="1000" dirty="0"/>
          </a:p>
        </p:txBody>
      </p:sp>
      <p:pic>
        <p:nvPicPr>
          <p:cNvPr id="23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37960" y="4846320"/>
            <a:ext cx="274320" cy="274320"/>
          </a:xfrm>
          <a:prstGeom prst="rect">
            <a:avLst/>
          </a:prstGeom>
        </p:spPr>
      </p:pic>
      <p:sp>
        <p:nvSpPr>
          <p:cNvPr id="24" name="Text 19"/>
          <p:cNvSpPr/>
          <p:nvPr/>
        </p:nvSpPr>
        <p:spPr>
          <a:xfrm>
            <a:off x="6903720" y="4846320"/>
            <a:ext cx="47548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E276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ttb_eval_pack.zip</a:t>
            </a:r>
            <a:endParaRPr lang="en-US" sz="1100" dirty="0"/>
          </a:p>
        </p:txBody>
      </p:sp>
      <p:sp>
        <p:nvSpPr>
          <p:cNvPr id="25" name="Text 20"/>
          <p:cNvSpPr/>
          <p:nvPr/>
        </p:nvSpPr>
        <p:spPr>
          <a:xfrm>
            <a:off x="6903720" y="5138928"/>
            <a:ext cx="47548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85 KB · 200-row v1/v2/Haiku predictions + scorer</a:t>
            </a:r>
            <a:endParaRPr lang="en-US" sz="1000" dirty="0"/>
          </a:p>
        </p:txBody>
      </p:sp>
      <p:sp>
        <p:nvSpPr>
          <p:cNvPr id="26" name="Text 21"/>
          <p:cNvSpPr/>
          <p:nvPr/>
        </p:nvSpPr>
        <p:spPr>
          <a:xfrm>
            <a:off x="502920" y="617220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i="1" dirty="0">
                <a:solidFill>
                  <a:srgbClr val="6B728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Treasury can validate the on-prem path independently by downloading the v2 adapter and pointing any GPU host's deployment script at it.</a:t>
            </a:r>
            <a:endParaRPr lang="en-US" sz="12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7F9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E276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02920" y="411480"/>
            <a:ext cx="11247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600" kern="0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10 · KEY TRADE-OFFS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502920" y="685800"/>
            <a:ext cx="112471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Decisions made + what they cost</a:t>
            </a:r>
            <a:endParaRPr lang="en-US" sz="3200" dirty="0"/>
          </a:p>
        </p:txBody>
      </p:sp>
      <p:sp>
        <p:nvSpPr>
          <p:cNvPr id="5" name="Text 3"/>
          <p:cNvSpPr/>
          <p:nvPr/>
        </p:nvSpPr>
        <p:spPr>
          <a:xfrm>
            <a:off x="502920" y="644652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TTB Label Verification  ·  Take-Home Implementation Overview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10972800" y="644652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 / 12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502920" y="1737360"/>
            <a:ext cx="5394960" cy="2148840"/>
          </a:xfrm>
          <a:prstGeom prst="rect">
            <a:avLst/>
          </a:prstGeom>
          <a:solidFill>
            <a:srgbClr val="FFFFFF"/>
          </a:solidFill>
          <a:ln w="12700">
            <a:solidFill>
              <a:srgbClr val="CADCFC"/>
            </a:solidFill>
            <a:prstDash val="solid"/>
          </a:ln>
          <a:effectLst>
            <a:outerShdw sx="100000" sy="100000" kx="0" ky="0" algn="bl" rotWithShape="0" blurRad="101600" dist="25400" dir="8100000">
              <a:srgbClr val="000000">
                <a:alpha val="6000"/>
              </a:srgbClr>
            </a:outerShdw>
          </a:effectLst>
        </p:spPr>
      </p:sp>
      <p:sp>
        <p:nvSpPr>
          <p:cNvPr id="8" name="Shape 6"/>
          <p:cNvSpPr/>
          <p:nvPr/>
        </p:nvSpPr>
        <p:spPr>
          <a:xfrm>
            <a:off x="502920" y="1737360"/>
            <a:ext cx="73152" cy="2148840"/>
          </a:xfrm>
          <a:prstGeom prst="rect">
            <a:avLst/>
          </a:prstGeom>
          <a:solidFill>
            <a:srgbClr val="028090"/>
          </a:solidFill>
          <a:ln w="12700">
            <a:solidFill>
              <a:srgbClr val="333333"/>
            </a:solidFill>
            <a:prstDash val="solid"/>
          </a:ln>
        </p:spPr>
      </p:sp>
      <p:pic>
        <p:nvPicPr>
          <p:cNvPr id="9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77240" y="2011680"/>
            <a:ext cx="502920" cy="502920"/>
          </a:xfrm>
          <a:prstGeom prst="rect">
            <a:avLst/>
          </a:prstGeom>
        </p:spPr>
      </p:pic>
      <p:sp>
        <p:nvSpPr>
          <p:cNvPr id="10" name="Text 7"/>
          <p:cNvSpPr/>
          <p:nvPr/>
        </p:nvSpPr>
        <p:spPr>
          <a:xfrm>
            <a:off x="1463040" y="2011680"/>
            <a:ext cx="4297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Buy + train, not buy or train</a:t>
            </a:r>
            <a:endParaRPr lang="en-US" sz="1600" dirty="0"/>
          </a:p>
        </p:txBody>
      </p:sp>
      <p:sp>
        <p:nvSpPr>
          <p:cNvPr id="11" name="Text 8"/>
          <p:cNvSpPr/>
          <p:nvPr/>
        </p:nvSpPr>
        <p:spPr>
          <a:xfrm>
            <a:off x="777240" y="2651760"/>
            <a:ext cx="493776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Ran Claude (cloud) AND Qwen (open-weights LoRA) end-to-end on the same eval set in parallel. Refused to pick one before measuring. Result: v2 won decisively on the trained fields, Haiku held on long-text reading.</a:t>
            </a:r>
            <a:endParaRPr lang="en-US" sz="1200" dirty="0"/>
          </a:p>
        </p:txBody>
      </p:sp>
      <p:sp>
        <p:nvSpPr>
          <p:cNvPr id="12" name="Shape 9"/>
          <p:cNvSpPr/>
          <p:nvPr/>
        </p:nvSpPr>
        <p:spPr>
          <a:xfrm>
            <a:off x="6172200" y="1737360"/>
            <a:ext cx="5394960" cy="2148840"/>
          </a:xfrm>
          <a:prstGeom prst="rect">
            <a:avLst/>
          </a:prstGeom>
          <a:solidFill>
            <a:srgbClr val="FFFFFF"/>
          </a:solidFill>
          <a:ln w="12700">
            <a:solidFill>
              <a:srgbClr val="CADCFC"/>
            </a:solidFill>
            <a:prstDash val="solid"/>
          </a:ln>
          <a:effectLst>
            <a:outerShdw sx="100000" sy="100000" kx="0" ky="0" algn="bl" rotWithShape="0" blurRad="101600" dist="25400" dir="8100000">
              <a:srgbClr val="000000">
                <a:alpha val="6000"/>
              </a:srgbClr>
            </a:outerShdw>
          </a:effectLst>
        </p:spPr>
      </p:sp>
      <p:sp>
        <p:nvSpPr>
          <p:cNvPr id="13" name="Shape 10"/>
          <p:cNvSpPr/>
          <p:nvPr/>
        </p:nvSpPr>
        <p:spPr>
          <a:xfrm>
            <a:off x="6172200" y="1737360"/>
            <a:ext cx="73152" cy="2148840"/>
          </a:xfrm>
          <a:prstGeom prst="rect">
            <a:avLst/>
          </a:prstGeom>
          <a:solidFill>
            <a:srgbClr val="028090"/>
          </a:solidFill>
          <a:ln w="12700">
            <a:solidFill>
              <a:srgbClr val="333333"/>
            </a:solidFill>
            <a:prstDash val="solid"/>
          </a:ln>
        </p:spPr>
      </p:sp>
      <p:pic>
        <p:nvPicPr>
          <p:cNvPr id="14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46520" y="2011680"/>
            <a:ext cx="502920" cy="502920"/>
          </a:xfrm>
          <a:prstGeom prst="rect">
            <a:avLst/>
          </a:prstGeom>
        </p:spPr>
      </p:pic>
      <p:sp>
        <p:nvSpPr>
          <p:cNvPr id="15" name="Text 11"/>
          <p:cNvSpPr/>
          <p:nvPr/>
        </p:nvSpPr>
        <p:spPr>
          <a:xfrm>
            <a:off x="7132320" y="2011680"/>
            <a:ext cx="4297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Get data from the source</a:t>
            </a:r>
            <a:endParaRPr lang="en-US" sz="1600" dirty="0"/>
          </a:p>
        </p:txBody>
      </p:sp>
      <p:sp>
        <p:nvSpPr>
          <p:cNvPr id="16" name="Text 12"/>
          <p:cNvSpPr/>
          <p:nvPr/>
        </p:nvSpPr>
        <p:spPr>
          <a:xfrm>
            <a:off x="6446520" y="2651760"/>
            <a:ext cx="493776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COLA Cloud's CC0 mirror had OCR-spillage in brand/class. Scraped 20K labels directly from the TTB Public COLA Registry at 0.5 req/sec (polite). 6.5× the data was the headline change that pushed v2 to 78%.</a:t>
            </a:r>
            <a:endParaRPr lang="en-US" sz="1200" dirty="0"/>
          </a:p>
        </p:txBody>
      </p:sp>
      <p:sp>
        <p:nvSpPr>
          <p:cNvPr id="17" name="Shape 13"/>
          <p:cNvSpPr/>
          <p:nvPr/>
        </p:nvSpPr>
        <p:spPr>
          <a:xfrm>
            <a:off x="502920" y="4069080"/>
            <a:ext cx="5394960" cy="2148840"/>
          </a:xfrm>
          <a:prstGeom prst="rect">
            <a:avLst/>
          </a:prstGeom>
          <a:solidFill>
            <a:srgbClr val="FFFFFF"/>
          </a:solidFill>
          <a:ln w="12700">
            <a:solidFill>
              <a:srgbClr val="CADCFC"/>
            </a:solidFill>
            <a:prstDash val="solid"/>
          </a:ln>
          <a:effectLst>
            <a:outerShdw sx="100000" sy="100000" kx="0" ky="0" algn="bl" rotWithShape="0" blurRad="101600" dist="25400" dir="8100000">
              <a:srgbClr val="000000">
                <a:alpha val="6000"/>
              </a:srgbClr>
            </a:outerShdw>
          </a:effectLst>
        </p:spPr>
      </p:sp>
      <p:sp>
        <p:nvSpPr>
          <p:cNvPr id="18" name="Shape 14"/>
          <p:cNvSpPr/>
          <p:nvPr/>
        </p:nvSpPr>
        <p:spPr>
          <a:xfrm>
            <a:off x="502920" y="4069080"/>
            <a:ext cx="73152" cy="2148840"/>
          </a:xfrm>
          <a:prstGeom prst="rect">
            <a:avLst/>
          </a:prstGeom>
          <a:solidFill>
            <a:srgbClr val="028090"/>
          </a:solidFill>
          <a:ln w="12700">
            <a:solidFill>
              <a:srgbClr val="333333"/>
            </a:solidFill>
            <a:prstDash val="solid"/>
          </a:ln>
        </p:spPr>
      </p:sp>
      <p:pic>
        <p:nvPicPr>
          <p:cNvPr id="19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7240" y="4343400"/>
            <a:ext cx="502920" cy="502920"/>
          </a:xfrm>
          <a:prstGeom prst="rect">
            <a:avLst/>
          </a:prstGeom>
        </p:spPr>
      </p:pic>
      <p:sp>
        <p:nvSpPr>
          <p:cNvPr id="20" name="Text 15"/>
          <p:cNvSpPr/>
          <p:nvPr/>
        </p:nvSpPr>
        <p:spPr>
          <a:xfrm>
            <a:off x="1463040" y="4343400"/>
            <a:ext cx="4297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Narrow the schema</a:t>
            </a:r>
            <a:endParaRPr lang="en-US" sz="1600" dirty="0"/>
          </a:p>
        </p:txBody>
      </p:sp>
      <p:sp>
        <p:nvSpPr>
          <p:cNvPr id="21" name="Text 16"/>
          <p:cNvSpPr/>
          <p:nvPr/>
        </p:nvSpPr>
        <p:spPr>
          <a:xfrm>
            <a:off x="777240" y="4983480"/>
            <a:ext cx="493776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v1's wide schema (4 fields + warning text) caused hallucination on long verbatim text. v2 retrained fields-only; warning text handled by deterministic OCR + canonical-text matching in the rules engine. Hallucination on warning → 0.</a:t>
            </a:r>
            <a:endParaRPr lang="en-US" sz="1200" dirty="0"/>
          </a:p>
        </p:txBody>
      </p:sp>
      <p:sp>
        <p:nvSpPr>
          <p:cNvPr id="22" name="Shape 17"/>
          <p:cNvSpPr/>
          <p:nvPr/>
        </p:nvSpPr>
        <p:spPr>
          <a:xfrm>
            <a:off x="6172200" y="4069080"/>
            <a:ext cx="5394960" cy="2148840"/>
          </a:xfrm>
          <a:prstGeom prst="rect">
            <a:avLst/>
          </a:prstGeom>
          <a:solidFill>
            <a:srgbClr val="FFFFFF"/>
          </a:solidFill>
          <a:ln w="12700">
            <a:solidFill>
              <a:srgbClr val="CADCFC"/>
            </a:solidFill>
            <a:prstDash val="solid"/>
          </a:ln>
          <a:effectLst>
            <a:outerShdw sx="100000" sy="100000" kx="0" ky="0" algn="bl" rotWithShape="0" blurRad="101600" dist="25400" dir="8100000">
              <a:srgbClr val="000000">
                <a:alpha val="6000"/>
              </a:srgbClr>
            </a:outerShdw>
          </a:effectLst>
        </p:spPr>
      </p:sp>
      <p:sp>
        <p:nvSpPr>
          <p:cNvPr id="23" name="Shape 18"/>
          <p:cNvSpPr/>
          <p:nvPr/>
        </p:nvSpPr>
        <p:spPr>
          <a:xfrm>
            <a:off x="6172200" y="4069080"/>
            <a:ext cx="73152" cy="2148840"/>
          </a:xfrm>
          <a:prstGeom prst="rect">
            <a:avLst/>
          </a:prstGeom>
          <a:solidFill>
            <a:srgbClr val="028090"/>
          </a:solidFill>
          <a:ln w="12700">
            <a:solidFill>
              <a:srgbClr val="333333"/>
            </a:solidFill>
            <a:prstDash val="solid"/>
          </a:ln>
        </p:spPr>
      </p:sp>
      <p:pic>
        <p:nvPicPr>
          <p:cNvPr id="24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46520" y="4343400"/>
            <a:ext cx="502920" cy="502920"/>
          </a:xfrm>
          <a:prstGeom prst="rect">
            <a:avLst/>
          </a:prstGeom>
        </p:spPr>
      </p:pic>
      <p:sp>
        <p:nvSpPr>
          <p:cNvPr id="25" name="Text 19"/>
          <p:cNvSpPr/>
          <p:nvPr/>
        </p:nvSpPr>
        <p:spPr>
          <a:xfrm>
            <a:off x="7132320" y="4343400"/>
            <a:ext cx="4297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Architecture portability is the durable value</a:t>
            </a:r>
            <a:endParaRPr lang="en-US" sz="1600" dirty="0"/>
          </a:p>
        </p:txBody>
      </p:sp>
      <p:sp>
        <p:nvSpPr>
          <p:cNvPr id="26" name="Text 20"/>
          <p:cNvSpPr/>
          <p:nvPr/>
        </p:nvSpPr>
        <p:spPr>
          <a:xfrm>
            <a:off x="6446520" y="4983480"/>
            <a:ext cx="493776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Six interchangeable extractors behind one ABC. Treasury can swap Modal → Cerebrium → Azure ML → on-prem with one env var. The rules engine — the legal logic — never changes across providers.</a:t>
            </a:r>
            <a:endParaRPr lang="en-US" sz="12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111A4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5120640"/>
            <a:ext cx="12161520" cy="45720"/>
          </a:xfrm>
          <a:prstGeom prst="rect">
            <a:avLst/>
          </a:prstGeom>
          <a:solidFill>
            <a:srgbClr val="CADCF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640080" y="640080"/>
            <a:ext cx="10881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800" kern="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WHAT'S NEXT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640080" y="1005840"/>
            <a:ext cx="108813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From prototype to production</a:t>
            </a:r>
            <a:endParaRPr lang="en-US" sz="4000" dirty="0"/>
          </a:p>
        </p:txBody>
      </p:sp>
      <p:sp>
        <p:nvSpPr>
          <p:cNvPr id="5" name="Shape 3"/>
          <p:cNvSpPr/>
          <p:nvPr/>
        </p:nvSpPr>
        <p:spPr>
          <a:xfrm>
            <a:off x="640080" y="2377440"/>
            <a:ext cx="502920" cy="502920"/>
          </a:xfrm>
          <a:prstGeom prst="oval">
            <a:avLst/>
          </a:prstGeom>
          <a:solidFill>
            <a:srgbClr val="02809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40080" y="237744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1280160" y="2331720"/>
            <a:ext cx="10515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Move inference inside the FedRAMP boundary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1280160" y="2743200"/>
            <a:ext cx="10515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Deploy the same Docker image to Azure ML Online Endpoints inside Azure Government (FedRAMP High, IL4/5). Verifier code unchanged — INFERENCE_MODE=azure_ml is the only new piece. Sub-FedRAMP cloud APIs eliminated.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640080" y="3474720"/>
            <a:ext cx="502920" cy="502920"/>
          </a:xfrm>
          <a:prstGeom prst="oval">
            <a:avLst/>
          </a:prstGeom>
          <a:solidFill>
            <a:srgbClr val="02809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40080" y="347472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</a:t>
            </a:r>
            <a:endParaRPr lang="en-US" sz="2200" dirty="0"/>
          </a:p>
        </p:txBody>
      </p:sp>
      <p:sp>
        <p:nvSpPr>
          <p:cNvPr id="11" name="Text 9"/>
          <p:cNvSpPr/>
          <p:nvPr/>
        </p:nvSpPr>
        <p:spPr>
          <a:xfrm>
            <a:off x="1280160" y="3429000"/>
            <a:ext cx="10515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Expand on-prem coverage with agency data</a:t>
            </a:r>
            <a:endParaRPr lang="en-US" sz="1800" dirty="0"/>
          </a:p>
        </p:txBody>
      </p:sp>
      <p:sp>
        <p:nvSpPr>
          <p:cNvPr id="12" name="Text 10"/>
          <p:cNvSpPr/>
          <p:nvPr/>
        </p:nvSpPr>
        <p:spPr>
          <a:xfrm>
            <a:off x="1280160" y="3840480"/>
            <a:ext cx="10515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ABV / Net contents / Warning text currently use Haiku (cloud). When agency-labeled training data lands for those fields, the same LoRA pipeline absorbs them and Haiku exits the loop. Privacy posture improves field-by-field.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640080" y="4572000"/>
            <a:ext cx="502920" cy="502920"/>
          </a:xfrm>
          <a:prstGeom prst="oval">
            <a:avLst/>
          </a:prstGeom>
          <a:solidFill>
            <a:srgbClr val="02809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40080" y="457200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3</a:t>
            </a:r>
            <a:endParaRPr lang="en-US" sz="2200" dirty="0"/>
          </a:p>
        </p:txBody>
      </p:sp>
      <p:sp>
        <p:nvSpPr>
          <p:cNvPr id="15" name="Text 13"/>
          <p:cNvSpPr/>
          <p:nvPr/>
        </p:nvSpPr>
        <p:spPr>
          <a:xfrm>
            <a:off x="1280160" y="4526280"/>
            <a:ext cx="10515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Productionize the deterministic checks we deferred</a:t>
            </a:r>
            <a:endParaRPr lang="en-US" sz="1800" dirty="0"/>
          </a:p>
        </p:txBody>
      </p:sp>
      <p:sp>
        <p:nvSpPr>
          <p:cNvPr id="16" name="Text 14"/>
          <p:cNvSpPr/>
          <p:nvPr/>
        </p:nvSpPr>
        <p:spPr>
          <a:xfrm>
            <a:off x="1280160" y="4937760"/>
            <a:ext cx="10515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27 CFR 16.22 type-size (font_mm via Tesseract bbox + EXIF DPI) is wired but currently degrades when DPI is missing (~49% of labels). Capture DPI at COLA submission → check goes from "not assessable" to enforced.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640080" y="5943600"/>
            <a:ext cx="10881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CADC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Take-home repo · github.com/vsiwach/ttb-label-verification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640080" y="6263640"/>
            <a:ext cx="10881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CADC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Live demo · ttb-label-verification-ebon.vercel.app</a:t>
            </a:r>
            <a:endParaRPr lang="en-US" sz="11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TTB Label Verification — Executive Overview</dc:title>
  <dc:subject>PptxGenJS Presentation</dc:subject>
  <dc:creator>Vikram Siwach</dc:creator>
  <cp:lastModifiedBy>Vikram Siwach</cp:lastModifiedBy>
  <cp:revision>1</cp:revision>
  <dcterms:created xsi:type="dcterms:W3CDTF">2026-05-27T02:38:59Z</dcterms:created>
  <dcterms:modified xsi:type="dcterms:W3CDTF">2026-05-27T02:38:59Z</dcterms:modified>
</cp:coreProperties>
</file>