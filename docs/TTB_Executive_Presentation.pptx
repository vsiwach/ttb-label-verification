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 v2 LoRA (on-prem)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Brand</c:v>
                  </c:pt>
                  <c:pt idx="1">
                    <c:v>Class &amp; type</c:v>
                  </c:pt>
                  <c:pt idx="2">
                    <c:v>Bottler</c:v>
                  </c:pt>
                  <c:pt idx="3">
                    <c:v>Country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91.5</c:v>
                </c:pt>
                <c:pt idx="2">
                  <c:v>52</c:v>
                </c:pt>
                <c:pt idx="3">
                  <c:v>95.8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Haiku (cloud, zero-shot)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Brand</c:v>
                  </c:pt>
                  <c:pt idx="1">
                    <c:v>Class &amp; type</c:v>
                  </c:pt>
                  <c:pt idx="2">
                    <c:v>Bottler</c:v>
                  </c:pt>
                  <c:pt idx="3">
                    <c:v>Country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67</c:v>
                </c:pt>
                <c:pt idx="1">
                  <c:v>19.5</c:v>
                </c:pt>
                <c:pt idx="2">
                  <c:v>1</c:v>
                </c:pt>
                <c:pt idx="3">
                  <c:v>87.5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6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ALCOHOL LABEL VERIFICATION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TTB Label Verification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overview of the take-home implementation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accuracy — 2× Haiku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days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build, 91 commits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03920" y="5440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50392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checks implemented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Vikram Siwach · 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label review at federal scale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reviews ~150,000 alcohol label applications per year with 47 agents. A simple review takes 5–10 minutes — half the agent's day is mechanical matching: brand, ABV, net contents, government warning. Past automation attempts failed at &gt;5s/label latency; agents abandoned them.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from stakeholder interviews: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 seconds per label — non-negotiable, was the deal-breaker for the prior vendor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Approachable for agents 50+ (half the workforce) and a 73-year-old benchmark user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firewall blocks most outbound traffic to public ML endpoints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upload of 200–300 labels (peak-season importer flows)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0" y="169164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9202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955280" y="1828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150K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7955280" y="2468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applications per year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20040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0880" y="320040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42900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95528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795528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reviewing them today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040880" y="4709160"/>
            <a:ext cx="4572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40880" y="4709160"/>
            <a:ext cx="73152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4937760"/>
            <a:ext cx="502920" cy="5029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955280" y="4846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5–10 min</a:t>
            </a:r>
            <a:endParaRPr lang="en-US" sz="3600" dirty="0"/>
          </a:p>
        </p:txBody>
      </p:sp>
      <p:sp>
        <p:nvSpPr>
          <p:cNvPr id="24" name="Text 19"/>
          <p:cNvSpPr/>
          <p:nvPr/>
        </p:nvSpPr>
        <p:spPr>
          <a:xfrm>
            <a:off x="7955280" y="5486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simple review, current state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THE 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reads. Rules decide. Humans own the call.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8892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77724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Vision-language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Open-weights Qwen2.5-VL-7B (Apache 2.0), fine-tuned on TTB-stratified data. Reads what's printed; reports observations + per-field confidence. Never decides compliance.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5196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4884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62940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18" name="Text 14"/>
          <p:cNvSpPr/>
          <p:nvPr/>
        </p:nvSpPr>
        <p:spPr>
          <a:xfrm>
            <a:off x="46177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461772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27 CFR engine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1772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Hand-coded Python rules engine cites the regulation behind every match / likely / flag decision. 118 unit tests. Auditable, reproducible, model-independent.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092440" y="173736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092440" y="173736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488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469880" y="2057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600" dirty="0"/>
          </a:p>
        </p:txBody>
      </p:sp>
      <p:sp>
        <p:nvSpPr>
          <p:cNvPr id="25" name="Text 20"/>
          <p:cNvSpPr/>
          <p:nvPr/>
        </p:nvSpPr>
        <p:spPr>
          <a:xfrm>
            <a:off x="84582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845820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458200" y="393192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confirms or overrides every result. Three-state output (match / likely / flag) gives them confidence signal without forcing a hard call. Engine routes conservatively.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0292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rules engine is the durable value — swap the model anytime, the legal logic doesn't change.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 → backend → swappable extractor → rules engine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200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65176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5176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19456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5176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274320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Pydantic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651760"/>
            <a:ext cx="320040" cy="3200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07492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2194560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07492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Extractor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516636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swappable adapters</a:t>
            </a:r>
            <a:endParaRPr 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2651760"/>
            <a:ext cx="320040" cy="32004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2194560"/>
            <a:ext cx="548640" cy="5486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4980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Engine</a:t>
            </a:r>
            <a:endParaRPr lang="en-US" sz="1600" dirty="0"/>
          </a:p>
        </p:txBody>
      </p:sp>
      <p:sp>
        <p:nvSpPr>
          <p:cNvPr id="25" name="Text 16"/>
          <p:cNvSpPr/>
          <p:nvPr/>
        </p:nvSpPr>
        <p:spPr>
          <a:xfrm>
            <a:off x="758952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Python · 27 CFR</a:t>
            </a:r>
            <a:endParaRPr lang="en-US" sz="1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5480" y="2651760"/>
            <a:ext cx="320040" cy="32004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992124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52760" y="2194560"/>
            <a:ext cx="548640" cy="54864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992124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</a:t>
            </a:r>
            <a:endParaRPr lang="en-US" sz="1600" dirty="0"/>
          </a:p>
        </p:txBody>
      </p:sp>
      <p:sp>
        <p:nvSpPr>
          <p:cNvPr id="30" name="Text 19"/>
          <p:cNvSpPr/>
          <p:nvPr/>
        </p:nvSpPr>
        <p:spPr>
          <a:xfrm>
            <a:off x="1001268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/ likely / flag</a:t>
            </a:r>
            <a:endParaRPr lang="en-US" sz="1000" dirty="0"/>
          </a:p>
        </p:txBody>
      </p:sp>
      <p:sp>
        <p:nvSpPr>
          <p:cNvPr id="31" name="Text 20"/>
          <p:cNvSpPr/>
          <p:nvPr/>
        </p:nvSpPr>
        <p:spPr>
          <a:xfrm>
            <a:off x="502920" y="4023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modes — pick at runtime via INFERENCE_MODE</a:t>
            </a:r>
            <a:endParaRPr lang="en-US" sz="1200" dirty="0"/>
          </a:p>
        </p:txBody>
      </p:sp>
      <p:sp>
        <p:nvSpPr>
          <p:cNvPr id="32" name="Shape 21"/>
          <p:cNvSpPr/>
          <p:nvPr/>
        </p:nvSpPr>
        <p:spPr>
          <a:xfrm>
            <a:off x="50292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50292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68580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</a:t>
            </a:r>
            <a:endParaRPr lang="en-US" sz="1300" dirty="0"/>
          </a:p>
        </p:txBody>
      </p:sp>
      <p:sp>
        <p:nvSpPr>
          <p:cNvPr id="35" name="Text 24"/>
          <p:cNvSpPr/>
          <p:nvPr/>
        </p:nvSpPr>
        <p:spPr>
          <a:xfrm>
            <a:off x="178308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 · CI</a:t>
            </a:r>
            <a:endParaRPr lang="en-US" sz="1100" dirty="0"/>
          </a:p>
        </p:txBody>
      </p:sp>
      <p:sp>
        <p:nvSpPr>
          <p:cNvPr id="36" name="Shape 25"/>
          <p:cNvSpPr/>
          <p:nvPr/>
        </p:nvSpPr>
        <p:spPr>
          <a:xfrm>
            <a:off x="434340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434340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452628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</a:t>
            </a:r>
            <a:endParaRPr lang="en-US" sz="1300" dirty="0"/>
          </a:p>
        </p:txBody>
      </p:sp>
      <p:sp>
        <p:nvSpPr>
          <p:cNvPr id="39" name="Text 28"/>
          <p:cNvSpPr/>
          <p:nvPr/>
        </p:nvSpPr>
        <p:spPr>
          <a:xfrm>
            <a:off x="562356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/ OpenAI / Google APIs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8183880" y="443484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8183880" y="443484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8366760" y="44897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</a:t>
            </a:r>
            <a:endParaRPr lang="en-US" sz="1300" dirty="0"/>
          </a:p>
        </p:txBody>
      </p:sp>
      <p:sp>
        <p:nvSpPr>
          <p:cNvPr id="43" name="Text 32"/>
          <p:cNvSpPr/>
          <p:nvPr/>
        </p:nvSpPr>
        <p:spPr>
          <a:xfrm>
            <a:off x="9464040" y="44897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via Claude Code CLI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50292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0292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35"/>
          <p:cNvSpPr/>
          <p:nvPr/>
        </p:nvSpPr>
        <p:spPr>
          <a:xfrm>
            <a:off x="68580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onprem</a:t>
            </a:r>
            <a:endParaRPr lang="en-US" sz="1300" dirty="0"/>
          </a:p>
        </p:txBody>
      </p:sp>
      <p:sp>
        <p:nvSpPr>
          <p:cNvPr id="47" name="Text 36"/>
          <p:cNvSpPr/>
          <p:nvPr/>
        </p:nvSpPr>
        <p:spPr>
          <a:xfrm>
            <a:off x="178308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+ Phi-3.5-vision (Ollama)</a:t>
            </a:r>
            <a:endParaRPr lang="en-US" sz="1100" dirty="0"/>
          </a:p>
        </p:txBody>
      </p:sp>
      <p:sp>
        <p:nvSpPr>
          <p:cNvPr id="48" name="Shape 37"/>
          <p:cNvSpPr/>
          <p:nvPr/>
        </p:nvSpPr>
        <p:spPr>
          <a:xfrm>
            <a:off x="434340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434340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452628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sft</a:t>
            </a:r>
            <a:endParaRPr lang="en-US" sz="1300" dirty="0"/>
          </a:p>
        </p:txBody>
      </p:sp>
      <p:sp>
        <p:nvSpPr>
          <p:cNvPr id="51" name="Text 40"/>
          <p:cNvSpPr/>
          <p:nvPr/>
        </p:nvSpPr>
        <p:spPr>
          <a:xfrm>
            <a:off x="562356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loaded locally on GPU</a:t>
            </a:r>
            <a:endParaRPr lang="en-US" sz="1100" dirty="0"/>
          </a:p>
        </p:txBody>
      </p:sp>
      <p:sp>
        <p:nvSpPr>
          <p:cNvPr id="52" name="Shape 41"/>
          <p:cNvSpPr/>
          <p:nvPr/>
        </p:nvSpPr>
        <p:spPr>
          <a:xfrm>
            <a:off x="8183880" y="5212080"/>
            <a:ext cx="3657600" cy="640080"/>
          </a:xfrm>
          <a:prstGeom prst="rect">
            <a:avLst/>
          </a:prstGeom>
          <a:solidFill>
            <a:srgbClr val="CADCFC">
              <a:alpha val="4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8183880" y="5212080"/>
            <a:ext cx="73152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43"/>
          <p:cNvSpPr/>
          <p:nvPr/>
        </p:nvSpPr>
        <p:spPr>
          <a:xfrm>
            <a:off x="8366760" y="526694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modal</a:t>
            </a:r>
            <a:endParaRPr lang="en-US" sz="1300" dirty="0"/>
          </a:p>
        </p:txBody>
      </p:sp>
      <p:sp>
        <p:nvSpPr>
          <p:cNvPr id="55" name="Text 44"/>
          <p:cNvSpPr/>
          <p:nvPr/>
        </p:nvSpPr>
        <p:spPr>
          <a:xfrm>
            <a:off x="9464040" y="52669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on Modal (HTTPS)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7 MANDATORY CHECKS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Per-field source + 27 CFR citation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1556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465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0" y="1746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7465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cited by the engine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10312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76272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97280" y="21762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21762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0" y="2176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4.32 / 5.63 / 7.63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260604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79192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97280" y="26791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&amp; type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114800" y="2679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229600" y="26791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4.32 / 5.63 / 7.63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02920" y="310896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82112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" y="31821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Bottler name &amp; address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114800" y="31821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229600" y="31821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4.35 / 5.65 / 7.65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02920" y="361188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85032"/>
            <a:ext cx="329184" cy="3291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097280" y="368503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of origin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114800" y="36850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229600" y="36850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4.35 / 5.66 / 7.65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02920" y="411480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87952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97280" y="41879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content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4114800" y="41879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8229600" y="41879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4.36 / 5.65 / 7.71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02920" y="4617720"/>
            <a:ext cx="11155680" cy="475488"/>
          </a:xfrm>
          <a:prstGeom prst="rect">
            <a:avLst/>
          </a:prstGeom>
          <a:solidFill>
            <a:srgbClr val="F7F9FC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690872"/>
            <a:ext cx="329184" cy="32918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6908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contents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4114800" y="4690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8229600" y="46908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4.37 / 5.47 / 7.27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02920" y="5120640"/>
            <a:ext cx="11155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193792"/>
            <a:ext cx="329184" cy="329184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097280" y="51937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Warning</a:t>
            </a:r>
            <a:endParaRPr lang="en-US" sz="1300" dirty="0"/>
          </a:p>
        </p:txBody>
      </p:sp>
      <p:sp>
        <p:nvSpPr>
          <p:cNvPr id="44" name="Text 35"/>
          <p:cNvSpPr/>
          <p:nvPr/>
        </p:nvSpPr>
        <p:spPr>
          <a:xfrm>
            <a:off x="4114800" y="51937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 + Haiku verbatim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8229600" y="51937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CFR 16.21 / 16.22</a:t>
            </a:r>
            <a:endParaRPr lang="en-US" sz="1100" dirty="0"/>
          </a:p>
        </p:txBody>
      </p:sp>
      <p:sp>
        <p:nvSpPr>
          <p:cNvPr id="46" name="Text 37"/>
          <p:cNvSpPr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by design: the 4 fields we have agency-clean training data for run on-prem (Qwen v2 LoRA). The 3 we don't yet have labeled data for run on Haiku — documented as a known external dependency that disappears when agency data lands for those fields.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HEADLINE RESULT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v2 LoRA · 77.5% on the 4 trained fields (2000-row holdout)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77.5%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LoRA · micro field accuracy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4160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37.2%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0292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Haiku · zero-shot on the same labels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577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2000-row TTB-stratified holdout · 1028 wine / 689 spirits / 283 malt · seed 42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669280" y="1691640"/>
          <a:ext cx="61264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5669280" y="5989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Validates within noise of the original 200-row eval (78.0% → 77.5%). v2 generalises — it isn't overfit to whichever subset we initially sampled. Haiku zero-shot held at 37.2% on the 200-row eval; we ran v1 + v2 on 2K but didn't re-spend Haiku quota at scale.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WHY V2 BEAT V1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data + narrower schema → 1.9% → 77.5% on the 2K holdout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406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737360"/>
            <a:ext cx="91440" cy="3931920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 baseline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 free sample, N = 1,377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— 4 fields + Government Warning text + image quality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38.4% micro on COLA Cloud labels (in-distribution) · 1.9% on the 2K TTB-Registry holdout (out-of-distribution — v1 never saw Registry images)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44068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737360"/>
            <a:ext cx="91440" cy="39319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446520" y="2606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Registry · production target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30632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Public COLA Registry, stratified scrape, N = 8,968 (6.5×)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narrowed — 4 fields only · GW handled by deterministic OCR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78.0% on the 200-row release eval · 77.5% on the 2000-row holdout — within noise · zero hallucination · 88.5% on Class &amp; type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520440"/>
            <a:ext cx="411480" cy="4114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02920" y="58521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takeaways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matters: 6.5× more data + 50% more epochs explains the bulk of the gain. Schema discipline matters: narrowing to fields with clean ground truth eliminated v1's warning-text hallucination — engine handles that deterministically. And the 2K out-of-distribution collapse from 38% → 1.9% proves the v1 number was specific to its training corpus, not a general capability.</a:t>
            </a:r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IMPLEMENTATION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days · 91 commits · 6 inference adapters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1965960"/>
            <a:ext cx="45720" cy="39776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201168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288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74520" y="173736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7400" y="1783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Scaffold + rules engine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7400" y="2103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frontend, FastAPI backend, 27 CFR rules engine, 6 swappable extractors, 78 unit tests. Zero model training yet.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25880" y="288036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97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74520" y="260604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2651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SFT exploration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15400" y="2651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commits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57400" y="29718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base models compared (Qwen, Phi, InternVL3, Kimi, Donut). Qwen2.5-VL wins. v1 trained on COLA Cloud, within 6pp of Claude.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25880" y="374904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66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9319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74520" y="347472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3520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Agency data pipeline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15400" y="35204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commits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57400" y="3840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Public COLA Registry scraper, stratified pulls (spirits / wine / beer-malt), v2 training pipeline + head-to-head harness.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325880" y="461772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4348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4800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874520" y="434340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57400" y="4389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 training on Colab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4389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commits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057400" y="4709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v2 trained on N=8,968 stratified labels, BF16, Colab A100. Leakage guards, session-resilient checkpointing, 200-row eval.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325880" y="5486400"/>
            <a:ext cx="320040" cy="320040"/>
          </a:xfrm>
          <a:prstGeom prst="oval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53035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02920" y="5669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4520" y="5212080"/>
            <a:ext cx="9784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57400" y="5257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+ scorer fix + ship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915400" y="52578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057400" y="5577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(Haiku) live, Modal (Qwen v2) validated. b817f82 scorer fix revealed 78% real accuracy. GitHub Release with weights + eval pack.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THREE DEPLOYMENT TOPOLOGIES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 · privacy boundary on PII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91640"/>
            <a:ext cx="36576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7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2103120"/>
            <a:ext cx="502920" cy="5029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514600" y="2057400"/>
            <a:ext cx="59436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2075688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Privacy-focused hybrid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Modal Qwen v2 + Haiku — currently live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on Vercel CDN. Modal Qwen v2 LoRA on a container WE control reads the 4 PII fields (brand, class, bottler, country). Anthropic Haiku reads the 27 CFR 16.21 verbatim warning text + ABV + net contents — all public-text values with no privacy classification. Label images traverse Modal (our boundary) and Haiku (public-text only).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7724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7724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$0–5/mo + $1/1000 labels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7724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boundary on PII · Haiku for 27 CFR public text only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5196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251960" y="169164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1772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72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03120"/>
            <a:ext cx="502920" cy="5029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61772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Privacy-only (no commodity model)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461772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Qwen v2 only · Tesseract for warning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61772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React + FastAPI. Modal Qwen v2 + Modal Tesseract container handle every field — Haiku is removed entirely. Government Warning verbatim falls back to Tesseract regex. Use when no third-party API is acceptable in the data path.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61772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61772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61772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$0/hr idle · $0.001/req active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461772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61772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API · single provider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092440" y="169164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092440" y="169164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458200" y="196596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7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2103120"/>
            <a:ext cx="502920" cy="50292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45820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Agency-hosted</a:t>
            </a:r>
            <a:endParaRPr lang="en-US" sz="2200" dirty="0"/>
          </a:p>
        </p:txBody>
      </p:sp>
      <p:sp>
        <p:nvSpPr>
          <p:cNvPr id="38" name="Text 33"/>
          <p:cNvSpPr/>
          <p:nvPr/>
        </p:nvSpPr>
        <p:spPr>
          <a:xfrm>
            <a:off x="845820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 / Azure ML · on-prem GPU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8458200" y="38404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Docker image inside FedRAMP boundary. INFERENCE_MODE=sft loads the LoRA on agency GPU. Zero outbound calls. Rules engine identical. Production target.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458200" y="5577840"/>
            <a:ext cx="292608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8458200" y="5669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42" name="Text 37"/>
          <p:cNvSpPr/>
          <p:nvPr/>
        </p:nvSpPr>
        <p:spPr>
          <a:xfrm>
            <a:off x="8458200" y="5852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agency Azure spend</a:t>
            </a:r>
            <a:endParaRPr lang="en-US" sz="1100" dirty="0"/>
          </a:p>
        </p:txBody>
      </p:sp>
      <p:sp>
        <p:nvSpPr>
          <p:cNvPr id="43" name="Text 38"/>
          <p:cNvSpPr/>
          <p:nvPr/>
        </p:nvSpPr>
        <p:spPr>
          <a:xfrm>
            <a:off x="845820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8458200" y="62453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 High · IL4/5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Swapping topology is one env var. The verifier code never changes.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 · WHAT'S LIVE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URL + downloadable weights for independent validation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778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5833872"/>
            <a:ext cx="557784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ttb-label-verification-ebon.vercel.app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Modal Qwen v2 (PII fields) + Haiku (public text) hybrid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~5 s warm · ~9 s cold-start fallback to Haiku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real TTB-approved labels (curated)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mandatory fields + GW verbatim &amp; casing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5833872"/>
            <a:ext cx="557784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RELEASE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v0.1.0 — Qwen v2 LoRA + Eval Pack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834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github.com/vsiwach/ttb-label-verification/releases/tag/v0.1.0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903720" y="3291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ttb_qwen_v2_adapter.zip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903720" y="3584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MB · 3-epoch, BF16, N=8,968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903720" y="4069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ttb_qwen_v1_adapter.zip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903720" y="43616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MB · COLA Cloud baseline (ablation)</a:t>
            </a:r>
            <a:endParaRPr lang="en-US" sz="10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03720" y="48463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ttb_eval_pack.zip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903720" y="5138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KB · 200-row v1/v2/Haiku predictions + scorer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Treasury can validate the on-prem path independently by downloading the v2 adapter and pointing any GPU host's deployment script at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KEY TRADE-OFFS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made + what they cost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TTB Label Verification  ·  Take-Home Implementation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73736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11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 + train, not buy or train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Claude (cloud) AND Qwen (open-weights LoRA) end-to-end on the same eval set in parallel. Refused to pick one before measuring. Result: v2 won decisively on the trained fields, Haiku held on long-text reading.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73736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73736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2011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data from the source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446520" y="2651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Cloud's CC0 mirror had OCR-spillage in brand/class. Scraped 20K labels directly from the TTB Public COLA Registry at 0.5 req/sec (polite). 6.5× the data was the headline change that pushed v2 to 78%.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2920" y="406908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406908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the schema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777240" y="49834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v1's wide schema (4 fields + warning text) caused hallucination on long verbatim text. v2 retrained fields-only; warning text handled by deterministic OCR + canonical-text matching in the rules engine. Hallucination on warning → 0.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72200" y="4069080"/>
            <a:ext cx="5394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4069080"/>
            <a:ext cx="73152" cy="21488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34340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13232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portability is the durable value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446520" y="49834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interchangeable extractors behind one ABC. Treasury can swap Modal → Cerebrium → Azure ML → on-prem with one env var. The rules engine — the legal logic — never changes across providers.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6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production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inference inside the FedRAMP boundary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743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same Docker image to Azure ML Online Endpoints inside Azure Government (FedRAMP High, IL4/5). Verifier code unchanged — INFERENCE_MODE=azure_ml is the only new piece. Sub-FedRAMP cloud APIs eliminated.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3429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 on-prem coverage with agency data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840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ABV / Net contents / Warning text currently use Haiku (cloud). When agency-labeled training data lands for those fields, the same LoRA pipeline absorbs them and Haiku exits the loop. Privacy posture improves field-by-field.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502920" cy="502920"/>
          </a:xfrm>
          <a:prstGeom prst="oval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526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Productionize the deterministic checks we deferred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CFR 16.22 type-size (font_mm via Tesseract bbox + EXIF DPI) is wired but currently degrades when DPI is missing (~49% of labels). Capture DPI at COLA submission → check goes from "not assessable" to enforced.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Take-home repo · github.com/vsiwach/ttb-label-verification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ttb-label-verification-ebon.vercel.app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TTB Label Verification — Executive Overview</dc:title>
  <dc:subject>PptxGenJS Presentation</dc:subject>
  <dc:creator>Vikram Siwach</dc:creator>
  <cp:lastModifiedBy>Vikram Siwach</cp:lastModifiedBy>
  <cp:revision>1</cp:revision>
  <dcterms:created xsi:type="dcterms:W3CDTF">2026-05-27T02:38:59Z</dcterms:created>
  <dcterms:modified xsi:type="dcterms:W3CDTF">2026-05-27T02:38:59Z</dcterms:modified>
</cp:coreProperties>
</file>